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9" r:id="rId4"/>
    <p:sldId id="259" r:id="rId5"/>
    <p:sldId id="268" r:id="rId6"/>
    <p:sldId id="271" r:id="rId7"/>
    <p:sldId id="288" r:id="rId8"/>
    <p:sldId id="290" r:id="rId9"/>
    <p:sldId id="281" r:id="rId10"/>
    <p:sldId id="282" r:id="rId11"/>
    <p:sldId id="283" r:id="rId12"/>
    <p:sldId id="273" r:id="rId13"/>
    <p:sldId id="276" r:id="rId14"/>
    <p:sldId id="277" r:id="rId15"/>
    <p:sldId id="266" r:id="rId16"/>
  </p:sldIdLst>
  <p:sldSz cx="18288000" cy="10287000"/>
  <p:notesSz cx="6797675" cy="9928225"/>
  <p:embeddedFontLst>
    <p:embeddedFont>
      <p:font typeface="Source Han Sans KR" panose="020B0604020202020204" charset="-128"/>
      <p:regular r:id="rId18"/>
    </p:embeddedFont>
    <p:embeddedFont>
      <p:font typeface="Source Han Sans KR Bold" panose="020B0604020202020204" charset="-128"/>
      <p:regular r:id="rId19"/>
    </p:embeddedFont>
    <p:embeddedFont>
      <p:font typeface="맑은 고딕" panose="020B0503020000020004" pitchFamily="34" charset="-12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A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5410" autoAdjust="0"/>
  </p:normalViewPr>
  <p:slideViewPr>
    <p:cSldViewPr>
      <p:cViewPr varScale="1">
        <p:scale>
          <a:sx n="63" d="100"/>
          <a:sy n="63" d="100"/>
        </p:scale>
        <p:origin x="6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2400" dirty="0"/>
              <a:t>클라우드 리소스의 요구사항 만족도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제안하는 시스템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453B-497D-9C77-41147C858D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클라우드 리소스 제약사항 충족률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6-4C8D-AFC1-8B211174F2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ChatDev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53B-497D-9C77-41147C858D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클라우드 리소스 제약사항 충족률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A6-4C8D-AFC1-8B211174F2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MetaGPT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클라우드 리소스 제약사항 충족률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A6-4C8D-AFC1-8B211174F2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0"/>
        <c:overlap val="-90"/>
        <c:axId val="1260805520"/>
        <c:axId val="1333671248"/>
      </c:barChart>
      <c:catAx>
        <c:axId val="12608055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33671248"/>
        <c:crosses val="autoZero"/>
        <c:auto val="1"/>
        <c:lblAlgn val="ctr"/>
        <c:lblOffset val="100"/>
        <c:noMultiLvlLbl val="0"/>
      </c:catAx>
      <c:valAx>
        <c:axId val="1333671248"/>
        <c:scaling>
          <c:orientation val="minMax"/>
          <c:max val="8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6080552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D813B-1135-4A8E-90F1-4AAA0F5766DB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E70EC-D5F5-4568-B3C5-EF8CA4E53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13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E70EC-D5F5-4568-B3C5-EF8CA4E531D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051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E70EC-D5F5-4568-B3C5-EF8CA4E531D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345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E70EC-D5F5-4568-B3C5-EF8CA4E531D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151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E70EC-D5F5-4568-B3C5-EF8CA4E531D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878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E70EC-D5F5-4568-B3C5-EF8CA4E531D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064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E70EC-D5F5-4568-B3C5-EF8CA4E531D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94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9666" y="585592"/>
            <a:ext cx="17106900" cy="9115425"/>
            <a:chOff x="0" y="0"/>
            <a:chExt cx="4505987" cy="2401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5987" cy="2401018"/>
            </a:xfrm>
            <a:custGeom>
              <a:avLst/>
              <a:gdLst/>
              <a:ahLst/>
              <a:cxnLst/>
              <a:rect l="l" t="t" r="r" b="b"/>
              <a:pathLst>
                <a:path w="4505987" h="2401018">
                  <a:moveTo>
                    <a:pt x="0" y="0"/>
                  </a:moveTo>
                  <a:lnTo>
                    <a:pt x="4505987" y="0"/>
                  </a:lnTo>
                  <a:lnTo>
                    <a:pt x="4505987" y="2401018"/>
                  </a:lnTo>
                  <a:lnTo>
                    <a:pt x="0" y="24010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05987" cy="244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3056390" y="6378078"/>
            <a:ext cx="12175220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690063" y="2255011"/>
            <a:ext cx="8906105" cy="104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2400" spc="-349" dirty="0">
                <a:solidFill>
                  <a:srgbClr val="24242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2026 </a:t>
            </a:r>
            <a:r>
              <a:rPr lang="ko-KR" altLang="en-US" sz="2400" spc="-349" dirty="0">
                <a:solidFill>
                  <a:srgbClr val="24242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전기 졸업과제</a:t>
            </a:r>
            <a:endParaRPr lang="en-US" sz="2400" spc="-349" dirty="0">
              <a:solidFill>
                <a:srgbClr val="242424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46916" y="2869950"/>
            <a:ext cx="15392400" cy="3361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ko-KR" altLang="en-US" sz="6600" b="1" spc="-499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멀티 </a:t>
            </a:r>
            <a:r>
              <a:rPr lang="en-US" altLang="ko-KR" sz="6600" b="1" spc="-499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 </a:t>
            </a:r>
            <a:r>
              <a:rPr lang="ko-KR" altLang="en-US" sz="6600" b="1" spc="-499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 기반 클라우드 네이티브 애플리케이션 개발 지원 기술 연구</a:t>
            </a:r>
            <a:endParaRPr lang="en-US" sz="6600" b="1" spc="-499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96000" y="7737038"/>
            <a:ext cx="701040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2800" b="1" dirty="0"/>
              <a:t>202113111 </a:t>
            </a:r>
            <a:r>
              <a:rPr lang="ko-KR" altLang="ko-KR" sz="2800" b="1" dirty="0"/>
              <a:t>김재우 </a:t>
            </a:r>
            <a:r>
              <a:rPr lang="en-US" altLang="ko-KR" sz="2800" b="1" dirty="0"/>
              <a:t>projw1024@pusan.ac.kr</a:t>
            </a:r>
            <a:endParaRPr lang="ko-KR" altLang="ko-KR" sz="2800" b="1" dirty="0"/>
          </a:p>
          <a:p>
            <a:r>
              <a:rPr lang="en-US" altLang="ko-KR" sz="2800" b="1" dirty="0"/>
              <a:t>202155578 </a:t>
            </a:r>
            <a:r>
              <a:rPr lang="ko-KR" altLang="ko-KR" sz="2800" b="1" dirty="0"/>
              <a:t>이상현</a:t>
            </a:r>
            <a:r>
              <a:rPr lang="en-US" altLang="ko-KR" sz="2800" b="1" dirty="0"/>
              <a:t> ask0208ask@pusan.ac.kr</a:t>
            </a:r>
            <a:endParaRPr lang="ko-KR" altLang="ko-KR" sz="2800" b="1" dirty="0"/>
          </a:p>
          <a:p>
            <a:r>
              <a:rPr lang="en-US" altLang="ko-KR" sz="2800" b="1" dirty="0"/>
              <a:t>202055625 </a:t>
            </a:r>
            <a:r>
              <a:rPr lang="ko-KR" altLang="ko-KR" sz="2800" b="1" dirty="0" err="1"/>
              <a:t>황수환</a:t>
            </a:r>
            <a:r>
              <a:rPr lang="en-US" altLang="ko-KR" sz="2800" b="1" dirty="0"/>
              <a:t> tnghks2866@pusan.ac.kr</a:t>
            </a:r>
            <a:endParaRPr lang="ko-KR" altLang="ko-KR" sz="2800" b="1" dirty="0"/>
          </a:p>
        </p:txBody>
      </p:sp>
      <p:sp>
        <p:nvSpPr>
          <p:cNvPr id="12" name="Freeform 12"/>
          <p:cNvSpPr/>
          <p:nvPr/>
        </p:nvSpPr>
        <p:spPr>
          <a:xfrm flipV="1">
            <a:off x="16207562" y="531122"/>
            <a:ext cx="1618674" cy="1598073"/>
          </a:xfrm>
          <a:custGeom>
            <a:avLst/>
            <a:gdLst/>
            <a:ahLst/>
            <a:cxnLst/>
            <a:rect l="l" t="t" r="r" b="b"/>
            <a:pathLst>
              <a:path w="1618674" h="1598073">
                <a:moveTo>
                  <a:pt x="0" y="1598073"/>
                </a:moveTo>
                <a:lnTo>
                  <a:pt x="1618675" y="1598073"/>
                </a:lnTo>
                <a:lnTo>
                  <a:pt x="1618675" y="0"/>
                </a:lnTo>
                <a:lnTo>
                  <a:pt x="0" y="0"/>
                </a:lnTo>
                <a:lnTo>
                  <a:pt x="0" y="15980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 flipH="1" flipV="1">
            <a:off x="461763" y="531122"/>
            <a:ext cx="1618674" cy="1598073"/>
          </a:xfrm>
          <a:custGeom>
            <a:avLst/>
            <a:gdLst/>
            <a:ahLst/>
            <a:cxnLst/>
            <a:rect l="l" t="t" r="r" b="b"/>
            <a:pathLst>
              <a:path w="1618674" h="1598073">
                <a:moveTo>
                  <a:pt x="1618675" y="1598073"/>
                </a:moveTo>
                <a:lnTo>
                  <a:pt x="0" y="1598073"/>
                </a:lnTo>
                <a:lnTo>
                  <a:pt x="0" y="0"/>
                </a:lnTo>
                <a:lnTo>
                  <a:pt x="1618675" y="0"/>
                </a:lnTo>
                <a:lnTo>
                  <a:pt x="1618675" y="15980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4" name="shape1025">
            <a:extLst>
              <a:ext uri="{FF2B5EF4-FFF2-40B4-BE49-F238E27FC236}">
                <a16:creationId xmlns:a16="http://schemas.microsoft.com/office/drawing/2014/main" id="{C6F4BA91-E531-F8C4-51FE-021A44983F3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654" y="863524"/>
            <a:ext cx="1710691" cy="1710691"/>
          </a:xfrm>
          <a:prstGeom prst="rect">
            <a:avLst/>
          </a:prstGeom>
          <a:noFill/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5A492A95-6EC5-985F-1BF6-825938363604}"/>
              </a:ext>
            </a:extLst>
          </p:cNvPr>
          <p:cNvSpPr txBox="1"/>
          <p:nvPr/>
        </p:nvSpPr>
        <p:spPr>
          <a:xfrm>
            <a:off x="8000115" y="6922413"/>
            <a:ext cx="22860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800" b="1" dirty="0" err="1"/>
              <a:t>팀명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: </a:t>
            </a:r>
            <a:r>
              <a:rPr lang="en-US" altLang="ko-KR" sz="2800" b="1" dirty="0" err="1"/>
              <a:t>EasyDep</a:t>
            </a:r>
            <a:endParaRPr lang="ko-KR" altLang="ko-KR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590550" y="404962"/>
            <a:ext cx="17106900" cy="9296251"/>
            <a:chOff x="0" y="-47625"/>
            <a:chExt cx="4505521" cy="2448395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-47625"/>
              <a:ext cx="1925506" cy="310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571657" y="30099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785FEDB-7D79-AB50-B31B-A0182EFD3A46}"/>
              </a:ext>
            </a:extLst>
          </p:cNvPr>
          <p:cNvGrpSpPr/>
          <p:nvPr/>
        </p:nvGrpSpPr>
        <p:grpSpPr>
          <a:xfrm>
            <a:off x="3810000" y="3238500"/>
            <a:ext cx="2310588" cy="481330"/>
            <a:chOff x="2889267" y="4029938"/>
            <a:chExt cx="2310588" cy="481330"/>
          </a:xfrm>
        </p:grpSpPr>
        <p:sp>
          <p:nvSpPr>
            <p:cNvPr id="9" name="TextBox 9"/>
            <p:cNvSpPr txBox="1"/>
            <p:nvPr/>
          </p:nvSpPr>
          <p:spPr>
            <a:xfrm>
              <a:off x="2889267" y="4029938"/>
              <a:ext cx="3599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u="none" strike="noStrike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64336" y="4055974"/>
              <a:ext cx="1835519" cy="4387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6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연구 배경</a:t>
              </a:r>
              <a:endParaRPr lang="en-US" sz="26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95149D4-F8DD-9A9C-1CAC-B05D6B3F010D}"/>
              </a:ext>
            </a:extLst>
          </p:cNvPr>
          <p:cNvGrpSpPr/>
          <p:nvPr/>
        </p:nvGrpSpPr>
        <p:grpSpPr>
          <a:xfrm>
            <a:off x="4109792" y="6389162"/>
            <a:ext cx="3579393" cy="454933"/>
            <a:chOff x="1571657" y="6484407"/>
            <a:chExt cx="3579393" cy="454933"/>
          </a:xfrm>
        </p:grpSpPr>
        <p:sp>
          <p:nvSpPr>
            <p:cNvPr id="12" name="TextBox 12"/>
            <p:cNvSpPr txBox="1"/>
            <p:nvPr/>
          </p:nvSpPr>
          <p:spPr>
            <a:xfrm>
              <a:off x="1571657" y="6484407"/>
              <a:ext cx="359943" cy="454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000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46726" y="6510442"/>
              <a:ext cx="3104324" cy="4128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0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요구사항 분석 에이전트</a:t>
              </a:r>
              <a:endParaRPr lang="en-US" sz="20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1D00519-818D-C532-CA17-B7616940D2D1}"/>
              </a:ext>
            </a:extLst>
          </p:cNvPr>
          <p:cNvGrpSpPr/>
          <p:nvPr/>
        </p:nvGrpSpPr>
        <p:grpSpPr>
          <a:xfrm>
            <a:off x="3810000" y="3958227"/>
            <a:ext cx="2398936" cy="490904"/>
            <a:chOff x="2889267" y="4813623"/>
            <a:chExt cx="1867384" cy="938758"/>
          </a:xfrm>
        </p:grpSpPr>
        <p:sp>
          <p:nvSpPr>
            <p:cNvPr id="15" name="TextBox 15"/>
            <p:cNvSpPr txBox="1"/>
            <p:nvPr/>
          </p:nvSpPr>
          <p:spPr>
            <a:xfrm>
              <a:off x="2889267" y="4813623"/>
              <a:ext cx="3599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9071" y="4857969"/>
              <a:ext cx="1497580" cy="8944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6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기존의 문제점</a:t>
              </a:r>
              <a:endParaRPr lang="en-US" sz="26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B5CF5C2-EA1E-2EE9-B6CD-07F125370154}"/>
              </a:ext>
            </a:extLst>
          </p:cNvPr>
          <p:cNvGrpSpPr/>
          <p:nvPr/>
        </p:nvGrpSpPr>
        <p:grpSpPr>
          <a:xfrm>
            <a:off x="3810000" y="4687528"/>
            <a:ext cx="3374802" cy="481330"/>
            <a:chOff x="9418246" y="4412187"/>
            <a:chExt cx="3374802" cy="481330"/>
          </a:xfrm>
        </p:grpSpPr>
        <p:sp>
          <p:nvSpPr>
            <p:cNvPr id="21" name="TextBox 21"/>
            <p:cNvSpPr txBox="1"/>
            <p:nvPr/>
          </p:nvSpPr>
          <p:spPr>
            <a:xfrm>
              <a:off x="9418246" y="4412187"/>
              <a:ext cx="3599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93315" y="4438223"/>
              <a:ext cx="2899733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6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연구 목표</a:t>
              </a:r>
              <a:endParaRPr lang="en-US" sz="26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DE024B6-404A-8A63-B603-D4D9BF232E3F}"/>
              </a:ext>
            </a:extLst>
          </p:cNvPr>
          <p:cNvGrpSpPr/>
          <p:nvPr/>
        </p:nvGrpSpPr>
        <p:grpSpPr>
          <a:xfrm>
            <a:off x="4120183" y="7356486"/>
            <a:ext cx="3374802" cy="454933"/>
            <a:chOff x="9418246" y="6484407"/>
            <a:chExt cx="3374802" cy="454933"/>
          </a:xfrm>
        </p:grpSpPr>
        <p:sp>
          <p:nvSpPr>
            <p:cNvPr id="24" name="TextBox 24"/>
            <p:cNvSpPr txBox="1"/>
            <p:nvPr/>
          </p:nvSpPr>
          <p:spPr>
            <a:xfrm>
              <a:off x="9418246" y="6484407"/>
              <a:ext cx="359943" cy="454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000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93315" y="6510442"/>
              <a:ext cx="2899733" cy="412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0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시스템 구현 에이전트</a:t>
              </a:r>
              <a:endParaRPr lang="en-US" altLang="ko-KR" sz="20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0546139-D348-4552-F4C6-226DE366D88F}"/>
              </a:ext>
            </a:extLst>
          </p:cNvPr>
          <p:cNvGrpSpPr/>
          <p:nvPr/>
        </p:nvGrpSpPr>
        <p:grpSpPr>
          <a:xfrm>
            <a:off x="4124819" y="5905500"/>
            <a:ext cx="3374802" cy="454933"/>
            <a:chOff x="13341541" y="4412187"/>
            <a:chExt cx="3374802" cy="454933"/>
          </a:xfrm>
        </p:grpSpPr>
        <p:sp>
          <p:nvSpPr>
            <p:cNvPr id="27" name="TextBox 27"/>
            <p:cNvSpPr txBox="1"/>
            <p:nvPr/>
          </p:nvSpPr>
          <p:spPr>
            <a:xfrm>
              <a:off x="13341541" y="4412187"/>
              <a:ext cx="359943" cy="454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000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16610" y="4438223"/>
              <a:ext cx="2899733" cy="412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0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전체 시스템 구조</a:t>
              </a:r>
              <a:endParaRPr lang="en-US" sz="20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9C7B765-8595-BB08-8476-63949C9C667A}"/>
              </a:ext>
            </a:extLst>
          </p:cNvPr>
          <p:cNvGrpSpPr/>
          <p:nvPr/>
        </p:nvGrpSpPr>
        <p:grpSpPr>
          <a:xfrm>
            <a:off x="4120183" y="8323812"/>
            <a:ext cx="4162535" cy="454933"/>
            <a:chOff x="13341541" y="6484407"/>
            <a:chExt cx="4162535" cy="454933"/>
          </a:xfrm>
        </p:grpSpPr>
        <p:sp>
          <p:nvSpPr>
            <p:cNvPr id="30" name="TextBox 30"/>
            <p:cNvSpPr txBox="1"/>
            <p:nvPr/>
          </p:nvSpPr>
          <p:spPr>
            <a:xfrm>
              <a:off x="13341541" y="6484407"/>
              <a:ext cx="359943" cy="454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000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16610" y="6510442"/>
              <a:ext cx="3687466" cy="4128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0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클라우드 환경 가이드라인 제공</a:t>
              </a:r>
              <a:endParaRPr lang="en-US" altLang="ko-KR" sz="20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494952" y="1771031"/>
            <a:ext cx="7298097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00"/>
              </a:lnSpc>
              <a:spcBef>
                <a:spcPct val="0"/>
              </a:spcBef>
            </a:pPr>
            <a:r>
              <a:rPr lang="en-US" sz="8000" b="1" spc="-320" dirty="0" err="1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목차</a:t>
            </a:r>
            <a:endParaRPr lang="en-US" sz="8000" b="1" spc="-320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23ECE13-6555-C305-A105-D98DFD3409E6}"/>
              </a:ext>
            </a:extLst>
          </p:cNvPr>
          <p:cNvGrpSpPr/>
          <p:nvPr/>
        </p:nvGrpSpPr>
        <p:grpSpPr>
          <a:xfrm>
            <a:off x="4109792" y="6872824"/>
            <a:ext cx="4495799" cy="454933"/>
            <a:chOff x="1571657" y="6484407"/>
            <a:chExt cx="4495799" cy="454933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442C5639-7A43-9877-629A-10FF48FC7AB0}"/>
                </a:ext>
              </a:extLst>
            </p:cNvPr>
            <p:cNvSpPr txBox="1"/>
            <p:nvPr/>
          </p:nvSpPr>
          <p:spPr>
            <a:xfrm>
              <a:off x="1571657" y="6484407"/>
              <a:ext cx="359943" cy="454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000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3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9E7A4FE0-6159-AECD-C152-3D5203491D2E}"/>
                </a:ext>
              </a:extLst>
            </p:cNvPr>
            <p:cNvSpPr txBox="1"/>
            <p:nvPr/>
          </p:nvSpPr>
          <p:spPr>
            <a:xfrm>
              <a:off x="2046725" y="6510442"/>
              <a:ext cx="4020731" cy="4128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0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시스템 설계 에이전트</a:t>
              </a:r>
              <a:endParaRPr lang="en-US" altLang="ko-KR" sz="20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65A09D-965F-FA1F-4D70-157129EB8DCD}"/>
              </a:ext>
            </a:extLst>
          </p:cNvPr>
          <p:cNvGrpSpPr/>
          <p:nvPr/>
        </p:nvGrpSpPr>
        <p:grpSpPr>
          <a:xfrm>
            <a:off x="4120183" y="7840148"/>
            <a:ext cx="3374802" cy="454933"/>
            <a:chOff x="13341541" y="6484407"/>
            <a:chExt cx="3374802" cy="454933"/>
          </a:xfrm>
        </p:grpSpPr>
        <p:sp>
          <p:nvSpPr>
            <p:cNvPr id="48" name="TextBox 30">
              <a:extLst>
                <a:ext uri="{FF2B5EF4-FFF2-40B4-BE49-F238E27FC236}">
                  <a16:creationId xmlns:a16="http://schemas.microsoft.com/office/drawing/2014/main" id="{DB37E8FC-A718-02C8-6CA2-9DE300319040}"/>
                </a:ext>
              </a:extLst>
            </p:cNvPr>
            <p:cNvSpPr txBox="1"/>
            <p:nvPr/>
          </p:nvSpPr>
          <p:spPr>
            <a:xfrm>
              <a:off x="13341541" y="6484407"/>
              <a:ext cx="359943" cy="454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000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5</a:t>
              </a:r>
            </a:p>
          </p:txBody>
        </p:sp>
        <p:sp>
          <p:nvSpPr>
            <p:cNvPr id="49" name="TextBox 31">
              <a:extLst>
                <a:ext uri="{FF2B5EF4-FFF2-40B4-BE49-F238E27FC236}">
                  <a16:creationId xmlns:a16="http://schemas.microsoft.com/office/drawing/2014/main" id="{E8AE1ABA-F3C2-FDD2-B99F-6DA42DC0EDD6}"/>
                </a:ext>
              </a:extLst>
            </p:cNvPr>
            <p:cNvSpPr txBox="1"/>
            <p:nvPr/>
          </p:nvSpPr>
          <p:spPr>
            <a:xfrm>
              <a:off x="13816610" y="6510442"/>
              <a:ext cx="2899733" cy="412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0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테스팅 에이전트</a:t>
              </a:r>
              <a:endParaRPr lang="en-US" altLang="ko-KR" sz="20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571343C-7633-C37D-7C95-4230BBB81925}"/>
              </a:ext>
            </a:extLst>
          </p:cNvPr>
          <p:cNvGrpSpPr/>
          <p:nvPr/>
        </p:nvGrpSpPr>
        <p:grpSpPr>
          <a:xfrm>
            <a:off x="10252502" y="3238500"/>
            <a:ext cx="3374802" cy="468205"/>
            <a:chOff x="13341541" y="6484407"/>
            <a:chExt cx="3374802" cy="468205"/>
          </a:xfrm>
        </p:grpSpPr>
        <p:sp>
          <p:nvSpPr>
            <p:cNvPr id="51" name="TextBox 30">
              <a:extLst>
                <a:ext uri="{FF2B5EF4-FFF2-40B4-BE49-F238E27FC236}">
                  <a16:creationId xmlns:a16="http://schemas.microsoft.com/office/drawing/2014/main" id="{4306C5C3-3415-8697-C252-4A4AE2C3ACDE}"/>
                </a:ext>
              </a:extLst>
            </p:cNvPr>
            <p:cNvSpPr txBox="1"/>
            <p:nvPr/>
          </p:nvSpPr>
          <p:spPr>
            <a:xfrm>
              <a:off x="13341541" y="6484407"/>
              <a:ext cx="475069" cy="4682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4</a:t>
              </a:r>
            </a:p>
          </p:txBody>
        </p:sp>
        <p:sp>
          <p:nvSpPr>
            <p:cNvPr id="52" name="TextBox 31">
              <a:extLst>
                <a:ext uri="{FF2B5EF4-FFF2-40B4-BE49-F238E27FC236}">
                  <a16:creationId xmlns:a16="http://schemas.microsoft.com/office/drawing/2014/main" id="{B9DE4E17-D5D4-E8A9-D98D-FFB8823BF51F}"/>
                </a:ext>
              </a:extLst>
            </p:cNvPr>
            <p:cNvSpPr txBox="1"/>
            <p:nvPr/>
          </p:nvSpPr>
          <p:spPr>
            <a:xfrm>
              <a:off x="13816610" y="6510442"/>
              <a:ext cx="2899733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6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사례 연구 및 평가</a:t>
              </a:r>
              <a:endParaRPr lang="en-US" sz="26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20313E4E-4209-DB01-18D6-6459D6C36353}"/>
              </a:ext>
            </a:extLst>
          </p:cNvPr>
          <p:cNvGrpSpPr/>
          <p:nvPr/>
        </p:nvGrpSpPr>
        <p:grpSpPr>
          <a:xfrm>
            <a:off x="10252502" y="3980926"/>
            <a:ext cx="3374802" cy="468205"/>
            <a:chOff x="13341541" y="6484407"/>
            <a:chExt cx="3374802" cy="468205"/>
          </a:xfrm>
        </p:grpSpPr>
        <p:sp>
          <p:nvSpPr>
            <p:cNvPr id="57" name="TextBox 30">
              <a:extLst>
                <a:ext uri="{FF2B5EF4-FFF2-40B4-BE49-F238E27FC236}">
                  <a16:creationId xmlns:a16="http://schemas.microsoft.com/office/drawing/2014/main" id="{22804AA4-4802-D296-937F-807EA3B028DA}"/>
                </a:ext>
              </a:extLst>
            </p:cNvPr>
            <p:cNvSpPr txBox="1"/>
            <p:nvPr/>
          </p:nvSpPr>
          <p:spPr>
            <a:xfrm>
              <a:off x="13341541" y="6484407"/>
              <a:ext cx="475069" cy="4682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5</a:t>
              </a:r>
            </a:p>
          </p:txBody>
        </p:sp>
        <p:sp>
          <p:nvSpPr>
            <p:cNvPr id="58" name="TextBox 31">
              <a:extLst>
                <a:ext uri="{FF2B5EF4-FFF2-40B4-BE49-F238E27FC236}">
                  <a16:creationId xmlns:a16="http://schemas.microsoft.com/office/drawing/2014/main" id="{A69D981D-DBD1-285A-16F0-F66944366DF4}"/>
                </a:ext>
              </a:extLst>
            </p:cNvPr>
            <p:cNvSpPr txBox="1"/>
            <p:nvPr/>
          </p:nvSpPr>
          <p:spPr>
            <a:xfrm>
              <a:off x="13816610" y="6510442"/>
              <a:ext cx="2899733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6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결론</a:t>
              </a:r>
              <a:endParaRPr lang="en-US" sz="26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4E35C5C-645B-7C6F-4ED1-95A990CCDA71}"/>
              </a:ext>
            </a:extLst>
          </p:cNvPr>
          <p:cNvGrpSpPr/>
          <p:nvPr/>
        </p:nvGrpSpPr>
        <p:grpSpPr>
          <a:xfrm>
            <a:off x="3807551" y="5297937"/>
            <a:ext cx="3374802" cy="468205"/>
            <a:chOff x="13341541" y="6484407"/>
            <a:chExt cx="3374802" cy="468205"/>
          </a:xfrm>
        </p:grpSpPr>
        <p:sp>
          <p:nvSpPr>
            <p:cNvPr id="14" name="TextBox 30">
              <a:extLst>
                <a:ext uri="{FF2B5EF4-FFF2-40B4-BE49-F238E27FC236}">
                  <a16:creationId xmlns:a16="http://schemas.microsoft.com/office/drawing/2014/main" id="{03686E1B-C7B9-16E2-7110-E0B85E799881}"/>
                </a:ext>
              </a:extLst>
            </p:cNvPr>
            <p:cNvSpPr txBox="1"/>
            <p:nvPr/>
          </p:nvSpPr>
          <p:spPr>
            <a:xfrm>
              <a:off x="13341541" y="6484407"/>
              <a:ext cx="475069" cy="4682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spc="-139" dirty="0">
                  <a:solidFill>
                    <a:srgbClr val="004AAD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4</a:t>
              </a:r>
            </a:p>
          </p:txBody>
        </p:sp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648F5999-0359-674D-08EB-C1EFBB8D547A}"/>
                </a:ext>
              </a:extLst>
            </p:cNvPr>
            <p:cNvSpPr txBox="1"/>
            <p:nvPr/>
          </p:nvSpPr>
          <p:spPr>
            <a:xfrm>
              <a:off x="13816610" y="6510442"/>
              <a:ext cx="2899733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ko-KR" altLang="en-US" sz="2600" b="1" spc="-130" dirty="0">
                  <a:solidFill>
                    <a:srgbClr val="242424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연구 내용</a:t>
              </a:r>
              <a:endParaRPr lang="en-US" sz="2600" b="1" spc="-130" dirty="0">
                <a:solidFill>
                  <a:srgbClr val="24242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1C25C-31A4-9C9F-C743-BC42CA3E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5A1ECB-0BF7-25BA-61CF-DB9D4738F814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8F3CCF-2F43-C9D8-E75F-318244DB6DD6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2B580D3-BACF-2EA6-5539-E2043E3ABF23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4D689AB6-F6A5-1C35-E05A-F43082060832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5550306-86C4-F73A-B376-6FCF5D7C1BDA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773D76C-98DC-8CB4-1579-CF44141A8152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4915AF-DAC6-5885-11DF-F3D292A6AF54}"/>
                </a:ext>
              </a:extLst>
            </p:cNvPr>
            <p:cNvSpPr txBox="1"/>
            <p:nvPr/>
          </p:nvSpPr>
          <p:spPr>
            <a:xfrm>
              <a:off x="127000" y="-47625"/>
              <a:ext cx="1925506" cy="310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6E8755F1-844D-2AFB-4CF5-FCCE44C05A32}"/>
              </a:ext>
            </a:extLst>
          </p:cNvPr>
          <p:cNvSpPr txBox="1"/>
          <p:nvPr/>
        </p:nvSpPr>
        <p:spPr>
          <a:xfrm>
            <a:off x="5087456" y="1824844"/>
            <a:ext cx="8113088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연구 배경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A420964A-EA21-7F87-0CCC-711C499B1150}"/>
              </a:ext>
            </a:extLst>
          </p:cNvPr>
          <p:cNvSpPr txBox="1"/>
          <p:nvPr/>
        </p:nvSpPr>
        <p:spPr>
          <a:xfrm>
            <a:off x="7301187" y="3924300"/>
            <a:ext cx="4120483" cy="432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클라우드 네이티브 애플리케이션</a:t>
            </a:r>
            <a:r>
              <a:rPr lang="en-US" altLang="ko-KR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?</a:t>
            </a:r>
            <a:endParaRPr lang="ko-KR" altLang="en-US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A6CDD9-1472-7700-88F8-C9F3DDCD5C9C}"/>
              </a:ext>
            </a:extLst>
          </p:cNvPr>
          <p:cNvSpPr txBox="1"/>
          <p:nvPr/>
        </p:nvSpPr>
        <p:spPr>
          <a:xfrm>
            <a:off x="7064851" y="8024300"/>
            <a:ext cx="4343400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클라우드 네이티브 애플리케이션이란</a:t>
            </a:r>
            <a:r>
              <a:rPr lang="en-US" altLang="ko-KR" b="1" dirty="0"/>
              <a:t>, </a:t>
            </a:r>
            <a:r>
              <a:rPr lang="ko-KR" altLang="en-US" b="1" dirty="0"/>
              <a:t>클라우드 컴퓨팅 환경의 장점과 탄력성을 최대한 활용하도록 설계</a:t>
            </a:r>
            <a:r>
              <a:rPr lang="en-US" altLang="ko-KR" b="1" dirty="0"/>
              <a:t>·</a:t>
            </a:r>
            <a:r>
              <a:rPr lang="ko-KR" altLang="en-US" b="1" dirty="0"/>
              <a:t>구축된 소프트웨어 프로그램</a:t>
            </a:r>
            <a:endParaRPr lang="en-US" altLang="ko-KR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434941-E53F-183F-C0E6-BFBCC843500B}"/>
              </a:ext>
            </a:extLst>
          </p:cNvPr>
          <p:cNvSpPr txBox="1"/>
          <p:nvPr/>
        </p:nvSpPr>
        <p:spPr>
          <a:xfrm>
            <a:off x="12115800" y="8028872"/>
            <a:ext cx="4537111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AI </a:t>
            </a:r>
            <a:r>
              <a:rPr lang="ko-KR" altLang="en-US" b="1" dirty="0"/>
              <a:t>에이전트 기술을 바탕으로 다양한 서비스의 개발을 지원하는 사례 증가</a:t>
            </a:r>
            <a:endParaRPr lang="en-US" altLang="ko-KR" b="1" dirty="0"/>
          </a:p>
        </p:txBody>
      </p:sp>
      <p:pic>
        <p:nvPicPr>
          <p:cNvPr id="36" name="그림 35" descr="글로벌 AI發 대량해고 폭풍, 非 IT기업까지 덮쳤다｜동아일보">
            <a:extLst>
              <a:ext uri="{FF2B5EF4-FFF2-40B4-BE49-F238E27FC236}">
                <a16:creationId xmlns:a16="http://schemas.microsoft.com/office/drawing/2014/main" id="{CE9A6649-CD6B-20F6-D6A2-6E4011C8C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1040" y="4058183"/>
            <a:ext cx="4495800" cy="2826734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BF52BEBB-09B6-1D4F-7DE3-399EB66F41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37538" y="4050563"/>
            <a:ext cx="5623887" cy="337872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0079CE1-FF02-80E9-A794-6DD1C53DBEEE}"/>
              </a:ext>
            </a:extLst>
          </p:cNvPr>
          <p:cNvSpPr txBox="1"/>
          <p:nvPr/>
        </p:nvSpPr>
        <p:spPr>
          <a:xfrm>
            <a:off x="1880925" y="8013959"/>
            <a:ext cx="4537111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국내 클라우드 </a:t>
            </a:r>
            <a:r>
              <a:rPr lang="en-US" altLang="ko-KR" b="1" dirty="0"/>
              <a:t>IT </a:t>
            </a:r>
            <a:r>
              <a:rPr lang="ko-KR" altLang="en-US" b="1" dirty="0"/>
              <a:t>인프라 시장 규모가 지속적으로 </a:t>
            </a:r>
            <a:r>
              <a:rPr lang="ko-KR" altLang="en-US" b="1" dirty="0" err="1"/>
              <a:t>증가중</a:t>
            </a:r>
            <a:endParaRPr lang="en-US" altLang="ko-KR" b="1" dirty="0"/>
          </a:p>
          <a:p>
            <a:endParaRPr lang="en-US" altLang="ko-KR" b="1" dirty="0"/>
          </a:p>
        </p:txBody>
      </p:sp>
      <p:pic>
        <p:nvPicPr>
          <p:cNvPr id="41" name="그림 40" descr="클라우드 네이티브란 무엇인가?">
            <a:extLst>
              <a:ext uri="{FF2B5EF4-FFF2-40B4-BE49-F238E27FC236}">
                <a16:creationId xmlns:a16="http://schemas.microsoft.com/office/drawing/2014/main" id="{0EBCBFDC-98F6-710B-4039-DA9EA511F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199" y="5143500"/>
            <a:ext cx="4276416" cy="2250746"/>
          </a:xfrm>
          <a:prstGeom prst="rect">
            <a:avLst/>
          </a:prstGeom>
        </p:spPr>
      </p:pic>
      <p:pic>
        <p:nvPicPr>
          <p:cNvPr id="7" name="그림 6" descr="Netflix 아이콘, 로고, 기호 – PNG, SVG 무료 다운로드">
            <a:extLst>
              <a:ext uri="{FF2B5EF4-FFF2-40B4-BE49-F238E27FC236}">
                <a16:creationId xmlns:a16="http://schemas.microsoft.com/office/drawing/2014/main" id="{B7B69C4E-F740-C280-E84B-8A1FD0333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344" y="4649043"/>
            <a:ext cx="1146232" cy="1146232"/>
          </a:xfrm>
          <a:prstGeom prst="rect">
            <a:avLst/>
          </a:prstGeom>
        </p:spPr>
      </p:pic>
      <p:pic>
        <p:nvPicPr>
          <p:cNvPr id="11" name="그림 10" descr="카카오뱅크(kakao bank) 로고 아이콘 - 무료 다운로드 (AI파일, PNG파일)">
            <a:extLst>
              <a:ext uri="{FF2B5EF4-FFF2-40B4-BE49-F238E27FC236}">
                <a16:creationId xmlns:a16="http://schemas.microsoft.com/office/drawing/2014/main" id="{423FC4D3-FED2-78B3-69D5-BC88E29FF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4527" y="4639102"/>
            <a:ext cx="1205903" cy="120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8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19FDEAF5-CAFE-BA62-5689-3D0B43957671}"/>
              </a:ext>
            </a:extLst>
          </p:cNvPr>
          <p:cNvSpPr txBox="1"/>
          <p:nvPr/>
        </p:nvSpPr>
        <p:spPr>
          <a:xfrm>
            <a:off x="5087456" y="1824844"/>
            <a:ext cx="8113088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기존의 문제점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2064EC51-99A7-23E4-1FB8-A665149F320F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8" name="Group 11">
            <a:extLst>
              <a:ext uri="{FF2B5EF4-FFF2-40B4-BE49-F238E27FC236}">
                <a16:creationId xmlns:a16="http://schemas.microsoft.com/office/drawing/2014/main" id="{17802BD6-C3D0-BA79-CFA2-402C85FA8E3B}"/>
              </a:ext>
            </a:extLst>
          </p:cNvPr>
          <p:cNvGrpSpPr/>
          <p:nvPr/>
        </p:nvGrpSpPr>
        <p:grpSpPr>
          <a:xfrm>
            <a:off x="1571657" y="4264667"/>
            <a:ext cx="4566121" cy="4527205"/>
            <a:chOff x="0" y="0"/>
            <a:chExt cx="1202600" cy="1192350"/>
          </a:xfrm>
        </p:grpSpPr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219ED309-784D-6E08-DB7C-BFDB8970B16A}"/>
                </a:ext>
              </a:extLst>
            </p:cNvPr>
            <p:cNvSpPr/>
            <p:nvPr/>
          </p:nvSpPr>
          <p:spPr>
            <a:xfrm>
              <a:off x="0" y="0"/>
              <a:ext cx="1202600" cy="1192350"/>
            </a:xfrm>
            <a:custGeom>
              <a:avLst/>
              <a:gdLst/>
              <a:ahLst/>
              <a:cxnLst/>
              <a:rect l="l" t="t" r="r" b="b"/>
              <a:pathLst>
                <a:path w="1202600" h="1192350">
                  <a:moveTo>
                    <a:pt x="0" y="0"/>
                  </a:moveTo>
                  <a:lnTo>
                    <a:pt x="1202600" y="0"/>
                  </a:lnTo>
                  <a:lnTo>
                    <a:pt x="1202600" y="1192350"/>
                  </a:lnTo>
                  <a:lnTo>
                    <a:pt x="0" y="1192350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TextBox 13">
              <a:extLst>
                <a:ext uri="{FF2B5EF4-FFF2-40B4-BE49-F238E27FC236}">
                  <a16:creationId xmlns:a16="http://schemas.microsoft.com/office/drawing/2014/main" id="{0714ED70-7A03-DC76-528C-82F21121CED2}"/>
                </a:ext>
              </a:extLst>
            </p:cNvPr>
            <p:cNvSpPr txBox="1"/>
            <p:nvPr/>
          </p:nvSpPr>
          <p:spPr>
            <a:xfrm>
              <a:off x="0" y="-85725"/>
              <a:ext cx="1202600" cy="127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3" name="Freeform 16">
            <a:extLst>
              <a:ext uri="{FF2B5EF4-FFF2-40B4-BE49-F238E27FC236}">
                <a16:creationId xmlns:a16="http://schemas.microsoft.com/office/drawing/2014/main" id="{96CD2AEE-664A-1FF9-39F8-DECE746116E0}"/>
              </a:ext>
            </a:extLst>
          </p:cNvPr>
          <p:cNvSpPr/>
          <p:nvPr/>
        </p:nvSpPr>
        <p:spPr>
          <a:xfrm flipH="1" flipV="1">
            <a:off x="1571657" y="4264667"/>
            <a:ext cx="1292864" cy="1276409"/>
          </a:xfrm>
          <a:custGeom>
            <a:avLst/>
            <a:gdLst/>
            <a:ahLst/>
            <a:cxnLst/>
            <a:rect l="l" t="t" r="r" b="b"/>
            <a:pathLst>
              <a:path w="1292864" h="1276409">
                <a:moveTo>
                  <a:pt x="1292864" y="1276409"/>
                </a:moveTo>
                <a:lnTo>
                  <a:pt x="0" y="1276409"/>
                </a:lnTo>
                <a:lnTo>
                  <a:pt x="0" y="0"/>
                </a:lnTo>
                <a:lnTo>
                  <a:pt x="1292864" y="0"/>
                </a:lnTo>
                <a:lnTo>
                  <a:pt x="1292864" y="12764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4" name="TextBox 17">
            <a:extLst>
              <a:ext uri="{FF2B5EF4-FFF2-40B4-BE49-F238E27FC236}">
                <a16:creationId xmlns:a16="http://schemas.microsoft.com/office/drawing/2014/main" id="{3FC3EFD0-2B72-8064-E51E-304CDE0D819B}"/>
              </a:ext>
            </a:extLst>
          </p:cNvPr>
          <p:cNvSpPr txBox="1"/>
          <p:nvPr/>
        </p:nvSpPr>
        <p:spPr>
          <a:xfrm>
            <a:off x="1875916" y="4446683"/>
            <a:ext cx="42221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spc="-16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</a:t>
            </a:r>
          </a:p>
        </p:txBody>
      </p:sp>
      <p:sp>
        <p:nvSpPr>
          <p:cNvPr id="95" name="TextBox 18">
            <a:extLst>
              <a:ext uri="{FF2B5EF4-FFF2-40B4-BE49-F238E27FC236}">
                <a16:creationId xmlns:a16="http://schemas.microsoft.com/office/drawing/2014/main" id="{1935DCC9-038F-F749-498A-A0FC61AE0E42}"/>
              </a:ext>
            </a:extLst>
          </p:cNvPr>
          <p:cNvSpPr txBox="1"/>
          <p:nvPr/>
        </p:nvSpPr>
        <p:spPr>
          <a:xfrm>
            <a:off x="2193705" y="4502563"/>
            <a:ext cx="3937878" cy="89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LLM </a:t>
            </a: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환각 현상에 따른 </a:t>
            </a:r>
            <a:endParaRPr lang="en-US" altLang="ko-KR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산출물 오류</a:t>
            </a:r>
            <a:endParaRPr lang="en-US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97" name="Group 20">
            <a:extLst>
              <a:ext uri="{FF2B5EF4-FFF2-40B4-BE49-F238E27FC236}">
                <a16:creationId xmlns:a16="http://schemas.microsoft.com/office/drawing/2014/main" id="{65FA58A6-D0F7-81BF-0C3D-EFD1280FAEE5}"/>
              </a:ext>
            </a:extLst>
          </p:cNvPr>
          <p:cNvGrpSpPr/>
          <p:nvPr/>
        </p:nvGrpSpPr>
        <p:grpSpPr>
          <a:xfrm>
            <a:off x="12115800" y="4264270"/>
            <a:ext cx="4566121" cy="4527205"/>
            <a:chOff x="0" y="0"/>
            <a:chExt cx="1202600" cy="1192350"/>
          </a:xfrm>
        </p:grpSpPr>
        <p:sp>
          <p:nvSpPr>
            <p:cNvPr id="98" name="Freeform 21">
              <a:extLst>
                <a:ext uri="{FF2B5EF4-FFF2-40B4-BE49-F238E27FC236}">
                  <a16:creationId xmlns:a16="http://schemas.microsoft.com/office/drawing/2014/main" id="{B2713AA7-FF3F-8CF8-7DEE-D4B05D932F79}"/>
                </a:ext>
              </a:extLst>
            </p:cNvPr>
            <p:cNvSpPr/>
            <p:nvPr/>
          </p:nvSpPr>
          <p:spPr>
            <a:xfrm>
              <a:off x="0" y="0"/>
              <a:ext cx="1202600" cy="1192350"/>
            </a:xfrm>
            <a:custGeom>
              <a:avLst/>
              <a:gdLst/>
              <a:ahLst/>
              <a:cxnLst/>
              <a:rect l="l" t="t" r="r" b="b"/>
              <a:pathLst>
                <a:path w="1202600" h="1192350">
                  <a:moveTo>
                    <a:pt x="0" y="0"/>
                  </a:moveTo>
                  <a:lnTo>
                    <a:pt x="1202600" y="0"/>
                  </a:lnTo>
                  <a:lnTo>
                    <a:pt x="1202600" y="1192350"/>
                  </a:lnTo>
                  <a:lnTo>
                    <a:pt x="0" y="1192350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9" name="TextBox 22">
              <a:extLst>
                <a:ext uri="{FF2B5EF4-FFF2-40B4-BE49-F238E27FC236}">
                  <a16:creationId xmlns:a16="http://schemas.microsoft.com/office/drawing/2014/main" id="{E04ACAB5-3D3A-9A54-E78C-AC8701461120}"/>
                </a:ext>
              </a:extLst>
            </p:cNvPr>
            <p:cNvSpPr txBox="1"/>
            <p:nvPr/>
          </p:nvSpPr>
          <p:spPr>
            <a:xfrm>
              <a:off x="0" y="-85725"/>
              <a:ext cx="1202600" cy="127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2" name="Freeform 25">
            <a:extLst>
              <a:ext uri="{FF2B5EF4-FFF2-40B4-BE49-F238E27FC236}">
                <a16:creationId xmlns:a16="http://schemas.microsoft.com/office/drawing/2014/main" id="{766B0F4D-2493-0D7E-4F37-39EC71DD220D}"/>
              </a:ext>
            </a:extLst>
          </p:cNvPr>
          <p:cNvSpPr/>
          <p:nvPr/>
        </p:nvSpPr>
        <p:spPr>
          <a:xfrm flipH="1" flipV="1">
            <a:off x="12115800" y="4264270"/>
            <a:ext cx="1292864" cy="1276409"/>
          </a:xfrm>
          <a:custGeom>
            <a:avLst/>
            <a:gdLst/>
            <a:ahLst/>
            <a:cxnLst/>
            <a:rect l="l" t="t" r="r" b="b"/>
            <a:pathLst>
              <a:path w="1292864" h="1276409">
                <a:moveTo>
                  <a:pt x="1292864" y="1276409"/>
                </a:moveTo>
                <a:lnTo>
                  <a:pt x="0" y="1276409"/>
                </a:lnTo>
                <a:lnTo>
                  <a:pt x="0" y="0"/>
                </a:lnTo>
                <a:lnTo>
                  <a:pt x="1292864" y="0"/>
                </a:lnTo>
                <a:lnTo>
                  <a:pt x="1292864" y="12764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Box 26">
            <a:extLst>
              <a:ext uri="{FF2B5EF4-FFF2-40B4-BE49-F238E27FC236}">
                <a16:creationId xmlns:a16="http://schemas.microsoft.com/office/drawing/2014/main" id="{777AAEA9-B88D-95E7-4180-97BE71F55EA8}"/>
              </a:ext>
            </a:extLst>
          </p:cNvPr>
          <p:cNvSpPr txBox="1"/>
          <p:nvPr/>
        </p:nvSpPr>
        <p:spPr>
          <a:xfrm>
            <a:off x="12420060" y="4446286"/>
            <a:ext cx="42221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spc="-160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</a:t>
            </a:r>
          </a:p>
        </p:txBody>
      </p:sp>
      <p:sp>
        <p:nvSpPr>
          <p:cNvPr id="104" name="TextBox 27">
            <a:extLst>
              <a:ext uri="{FF2B5EF4-FFF2-40B4-BE49-F238E27FC236}">
                <a16:creationId xmlns:a16="http://schemas.microsoft.com/office/drawing/2014/main" id="{3B405344-F799-F0BB-9C22-AD27DED1FB17}"/>
              </a:ext>
            </a:extLst>
          </p:cNvPr>
          <p:cNvSpPr txBox="1"/>
          <p:nvPr/>
        </p:nvSpPr>
        <p:spPr>
          <a:xfrm>
            <a:off x="12734899" y="4460375"/>
            <a:ext cx="3937878" cy="89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클라우드 리소스</a:t>
            </a:r>
            <a:endParaRPr lang="en-US" altLang="ko-KR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의존관계의 복잡성</a:t>
            </a:r>
            <a:endParaRPr lang="en-US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106" name="Group 29">
            <a:extLst>
              <a:ext uri="{FF2B5EF4-FFF2-40B4-BE49-F238E27FC236}">
                <a16:creationId xmlns:a16="http://schemas.microsoft.com/office/drawing/2014/main" id="{6DCBC88C-79D2-A4F9-33C7-E881AEFAE621}"/>
              </a:ext>
            </a:extLst>
          </p:cNvPr>
          <p:cNvGrpSpPr/>
          <p:nvPr/>
        </p:nvGrpSpPr>
        <p:grpSpPr>
          <a:xfrm>
            <a:off x="6858000" y="4264667"/>
            <a:ext cx="4566121" cy="4527205"/>
            <a:chOff x="0" y="0"/>
            <a:chExt cx="1202600" cy="1192350"/>
          </a:xfrm>
        </p:grpSpPr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48B4DFA0-3A52-4507-764B-677303E10B78}"/>
                </a:ext>
              </a:extLst>
            </p:cNvPr>
            <p:cNvSpPr/>
            <p:nvPr/>
          </p:nvSpPr>
          <p:spPr>
            <a:xfrm>
              <a:off x="0" y="0"/>
              <a:ext cx="1202600" cy="1192350"/>
            </a:xfrm>
            <a:custGeom>
              <a:avLst/>
              <a:gdLst/>
              <a:ahLst/>
              <a:cxnLst/>
              <a:rect l="l" t="t" r="r" b="b"/>
              <a:pathLst>
                <a:path w="1202600" h="1192350">
                  <a:moveTo>
                    <a:pt x="0" y="0"/>
                  </a:moveTo>
                  <a:lnTo>
                    <a:pt x="1202600" y="0"/>
                  </a:lnTo>
                  <a:lnTo>
                    <a:pt x="1202600" y="1192350"/>
                  </a:lnTo>
                  <a:lnTo>
                    <a:pt x="0" y="1192350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TextBox 31">
              <a:extLst>
                <a:ext uri="{FF2B5EF4-FFF2-40B4-BE49-F238E27FC236}">
                  <a16:creationId xmlns:a16="http://schemas.microsoft.com/office/drawing/2014/main" id="{8F5FD35E-BA9D-8EB0-AB94-B6BFBFCACAA5}"/>
                </a:ext>
              </a:extLst>
            </p:cNvPr>
            <p:cNvSpPr txBox="1"/>
            <p:nvPr/>
          </p:nvSpPr>
          <p:spPr>
            <a:xfrm>
              <a:off x="0" y="-85725"/>
              <a:ext cx="1202600" cy="127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1" name="Freeform 34">
            <a:extLst>
              <a:ext uri="{FF2B5EF4-FFF2-40B4-BE49-F238E27FC236}">
                <a16:creationId xmlns:a16="http://schemas.microsoft.com/office/drawing/2014/main" id="{E5AB8FC4-063C-34E6-2BE5-F68D65DFFD8C}"/>
              </a:ext>
            </a:extLst>
          </p:cNvPr>
          <p:cNvSpPr/>
          <p:nvPr/>
        </p:nvSpPr>
        <p:spPr>
          <a:xfrm flipH="1" flipV="1">
            <a:off x="6858739" y="4264667"/>
            <a:ext cx="1292864" cy="1276409"/>
          </a:xfrm>
          <a:custGeom>
            <a:avLst/>
            <a:gdLst/>
            <a:ahLst/>
            <a:cxnLst/>
            <a:rect l="l" t="t" r="r" b="b"/>
            <a:pathLst>
              <a:path w="1292864" h="1276409">
                <a:moveTo>
                  <a:pt x="1292863" y="1276409"/>
                </a:moveTo>
                <a:lnTo>
                  <a:pt x="0" y="1276409"/>
                </a:lnTo>
                <a:lnTo>
                  <a:pt x="0" y="0"/>
                </a:lnTo>
                <a:lnTo>
                  <a:pt x="1292863" y="0"/>
                </a:lnTo>
                <a:lnTo>
                  <a:pt x="1292863" y="12764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Box 35">
            <a:extLst>
              <a:ext uri="{FF2B5EF4-FFF2-40B4-BE49-F238E27FC236}">
                <a16:creationId xmlns:a16="http://schemas.microsoft.com/office/drawing/2014/main" id="{7A1CC0D9-5768-70CB-831F-E4AEF3D63B4A}"/>
              </a:ext>
            </a:extLst>
          </p:cNvPr>
          <p:cNvSpPr txBox="1"/>
          <p:nvPr/>
        </p:nvSpPr>
        <p:spPr>
          <a:xfrm>
            <a:off x="7162259" y="4446683"/>
            <a:ext cx="42221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spc="-160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</a:t>
            </a:r>
          </a:p>
        </p:txBody>
      </p:sp>
      <p:sp>
        <p:nvSpPr>
          <p:cNvPr id="113" name="TextBox 36">
            <a:extLst>
              <a:ext uri="{FF2B5EF4-FFF2-40B4-BE49-F238E27FC236}">
                <a16:creationId xmlns:a16="http://schemas.microsoft.com/office/drawing/2014/main" id="{DD2760C1-55FD-0DD1-1F84-7575BC283E2A}"/>
              </a:ext>
            </a:extLst>
          </p:cNvPr>
          <p:cNvSpPr txBox="1"/>
          <p:nvPr/>
        </p:nvSpPr>
        <p:spPr>
          <a:xfrm>
            <a:off x="7471003" y="4502562"/>
            <a:ext cx="3937878" cy="89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 </a:t>
            </a: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에이전트의 의도 전파에</a:t>
            </a:r>
            <a:endParaRPr lang="en-US" altLang="ko-KR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따른 결함 추적의 어려움</a:t>
            </a:r>
            <a:endParaRPr lang="en-US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68EACEF-893F-C2EE-A0F6-8CEE6603ADD7}"/>
              </a:ext>
            </a:extLst>
          </p:cNvPr>
          <p:cNvSpPr txBox="1"/>
          <p:nvPr/>
        </p:nvSpPr>
        <p:spPr>
          <a:xfrm>
            <a:off x="6987421" y="7446049"/>
            <a:ext cx="4232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39700" algn="just" latinLnBrk="1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kern="100" dirty="0">
                <a:latin typeface="+mn-ea"/>
                <a:cs typeface="Arial" panose="020B0604020202020204" pitchFamily="34" charset="0"/>
              </a:rPr>
              <a:t>다중 에이전트가 목표와 작업 결과를 전달하는 과정에서 맥락이 누락되거나 의도가 왜곡되면</a:t>
            </a:r>
            <a:r>
              <a:rPr lang="en-US" altLang="ko-KR" kern="100" dirty="0"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b="1" kern="100" dirty="0">
                <a:latin typeface="+mn-ea"/>
                <a:cs typeface="Arial" panose="020B0604020202020204" pitchFamily="34" charset="0"/>
              </a:rPr>
              <a:t>잘못된 판단이 다른 에이전트로 전파</a:t>
            </a:r>
            <a:r>
              <a:rPr lang="ko-KR" altLang="en-US" kern="100" dirty="0">
                <a:latin typeface="+mn-ea"/>
                <a:cs typeface="Arial" panose="020B0604020202020204" pitchFamily="34" charset="0"/>
              </a:rPr>
              <a:t>되어 오류가 누적됨</a:t>
            </a:r>
            <a:endParaRPr lang="ko-KR" altLang="ko-KR" sz="1100" kern="100" dirty="0">
              <a:effectLst/>
              <a:latin typeface="+mn-ea"/>
              <a:cs typeface="Arial" panose="020B0604020202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6D1E2A5-6D0A-1291-AB1C-6CD2C3A2751D}"/>
              </a:ext>
            </a:extLst>
          </p:cNvPr>
          <p:cNvSpPr txBox="1"/>
          <p:nvPr/>
        </p:nvSpPr>
        <p:spPr>
          <a:xfrm>
            <a:off x="1738327" y="7581900"/>
            <a:ext cx="42327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39700" algn="just" latinLnBrk="1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LLM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의 환각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(Hallucination)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으로 인해 </a:t>
            </a:r>
            <a:r>
              <a:rPr lang="ko-KR" altLang="en-US" sz="1800" b="1" kern="100" dirty="0">
                <a:effectLst/>
                <a:latin typeface="+mn-ea"/>
                <a:cs typeface="Arial" panose="020B0604020202020204" pitchFamily="34" charset="0"/>
              </a:rPr>
              <a:t>근거가 없거나 모순된 산출물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이 생성되어 의도하지 않은 결과 발생 가능</a:t>
            </a:r>
            <a:endParaRPr lang="ko-KR" altLang="ko-KR" sz="1100" kern="100" dirty="0">
              <a:effectLst/>
              <a:latin typeface="+mn-ea"/>
              <a:cs typeface="Arial" panose="020B0604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D5F0E69-34CE-08B0-C585-F2103B09434C}"/>
              </a:ext>
            </a:extLst>
          </p:cNvPr>
          <p:cNvSpPr txBox="1"/>
          <p:nvPr/>
        </p:nvSpPr>
        <p:spPr>
          <a:xfrm>
            <a:off x="12189062" y="7648773"/>
            <a:ext cx="441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39700" algn="just" latinLnBrk="1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클라우드 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VM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을 배치하는 작업은 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VM 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인스턴스 하나를 선택하는 것으로 끝나지 않</a:t>
            </a:r>
            <a:r>
              <a:rPr lang="ko-KR" altLang="en-US" kern="100" dirty="0">
                <a:latin typeface="+mn-ea"/>
                <a:cs typeface="Arial" panose="020B0604020202020204" pitchFamily="34" charset="0"/>
              </a:rPr>
              <a:t>고 </a:t>
            </a:r>
            <a:r>
              <a:rPr lang="ko-KR" altLang="en-US" b="1" kern="100" dirty="0">
                <a:latin typeface="+mn-ea"/>
                <a:cs typeface="Arial" panose="020B0604020202020204" pitchFamily="34" charset="0"/>
              </a:rPr>
              <a:t>리소스간 복잡한 의존관계</a:t>
            </a:r>
            <a:r>
              <a:rPr lang="ko-KR" altLang="en-US" kern="100" dirty="0">
                <a:latin typeface="+mn-ea"/>
                <a:cs typeface="Arial" panose="020B0604020202020204" pitchFamily="34" charset="0"/>
              </a:rPr>
              <a:t>를 지님</a:t>
            </a:r>
            <a:endParaRPr lang="ko-KR" altLang="ko-KR" sz="1100" kern="100" dirty="0">
              <a:effectLst/>
              <a:latin typeface="+mn-ea"/>
              <a:cs typeface="Arial" panose="020B0604020202020204" pitchFamily="34" charset="0"/>
            </a:endParaRPr>
          </a:p>
        </p:txBody>
      </p:sp>
      <p:pic>
        <p:nvPicPr>
          <p:cNvPr id="127" name="그림 126" descr="AI 환각과 신뢰 문제: '정확한 AI'는 가능한가? : 테크브루 뉴스 | Techbrew News">
            <a:extLst>
              <a:ext uri="{FF2B5EF4-FFF2-40B4-BE49-F238E27FC236}">
                <a16:creationId xmlns:a16="http://schemas.microsoft.com/office/drawing/2014/main" id="{AC073376-7A30-36F8-4E98-42E36A3ED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321" y="5452790"/>
            <a:ext cx="3448564" cy="1934560"/>
          </a:xfrm>
          <a:prstGeom prst="rect">
            <a:avLst/>
          </a:prstGeom>
        </p:spPr>
      </p:pic>
      <p:pic>
        <p:nvPicPr>
          <p:cNvPr id="128" name="그림 127" descr="주요 AWS 서비스 목록 요약">
            <a:extLst>
              <a:ext uri="{FF2B5EF4-FFF2-40B4-BE49-F238E27FC236}">
                <a16:creationId xmlns:a16="http://schemas.microsoft.com/office/drawing/2014/main" id="{B2F4500C-73FF-A30D-2221-0D9A5066B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2232" y="5642121"/>
            <a:ext cx="3252397" cy="1702088"/>
          </a:xfrm>
          <a:prstGeom prst="rect">
            <a:avLst/>
          </a:prstGeom>
        </p:spPr>
      </p:pic>
      <p:pic>
        <p:nvPicPr>
          <p:cNvPr id="130" name="그림 129" descr="큰 책에서 돋보기 확대 시키 텍스트 로열티 무료 사진, 그림, 이미지 그리고 스톡포토그래피. Image 12756650">
            <a:extLst>
              <a:ext uri="{FF2B5EF4-FFF2-40B4-BE49-F238E27FC236}">
                <a16:creationId xmlns:a16="http://schemas.microsoft.com/office/drawing/2014/main" id="{D04E2D88-867A-9155-CCB1-60EBA7846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178" y="5420012"/>
            <a:ext cx="2825672" cy="1891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82FE1-F280-3994-3ADE-78720C60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CFD764-D1BC-A00C-A6EE-2373468F01E9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3C8744-1EDD-2FEF-34B7-E31CB17E3A25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DD98131-67DA-2A1E-B1B2-4AB3FA66E905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646781B-ED4C-341D-393D-FF1F08A2D4F7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F12512B-74DA-3A24-3273-F292459BA8B5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5387E36-714E-A30A-7F54-B6CEA509726E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7142CA9C-AECD-B77A-A51C-93A07A707E43}"/>
              </a:ext>
            </a:extLst>
          </p:cNvPr>
          <p:cNvSpPr txBox="1"/>
          <p:nvPr/>
        </p:nvSpPr>
        <p:spPr>
          <a:xfrm>
            <a:off x="5087456" y="1824844"/>
            <a:ext cx="8113088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연구 목표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F4B887DE-DD6F-D55C-E1B8-D52941ECD5C5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957A4C73-BE75-D81D-78F4-72319D90F8A5}"/>
              </a:ext>
            </a:extLst>
          </p:cNvPr>
          <p:cNvGrpSpPr/>
          <p:nvPr/>
        </p:nvGrpSpPr>
        <p:grpSpPr>
          <a:xfrm>
            <a:off x="1571657" y="4264667"/>
            <a:ext cx="4566121" cy="4527205"/>
            <a:chOff x="0" y="0"/>
            <a:chExt cx="1202600" cy="1192350"/>
          </a:xfrm>
        </p:grpSpPr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583D0C2-6B03-0C60-9DEB-63FA90DBB893}"/>
                </a:ext>
              </a:extLst>
            </p:cNvPr>
            <p:cNvSpPr/>
            <p:nvPr/>
          </p:nvSpPr>
          <p:spPr>
            <a:xfrm>
              <a:off x="0" y="0"/>
              <a:ext cx="1202600" cy="1192350"/>
            </a:xfrm>
            <a:custGeom>
              <a:avLst/>
              <a:gdLst/>
              <a:ahLst/>
              <a:cxnLst/>
              <a:rect l="l" t="t" r="r" b="b"/>
              <a:pathLst>
                <a:path w="1202600" h="1192350">
                  <a:moveTo>
                    <a:pt x="0" y="0"/>
                  </a:moveTo>
                  <a:lnTo>
                    <a:pt x="1202600" y="0"/>
                  </a:lnTo>
                  <a:lnTo>
                    <a:pt x="1202600" y="1192350"/>
                  </a:lnTo>
                  <a:lnTo>
                    <a:pt x="0" y="1192350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13">
              <a:extLst>
                <a:ext uri="{FF2B5EF4-FFF2-40B4-BE49-F238E27FC236}">
                  <a16:creationId xmlns:a16="http://schemas.microsoft.com/office/drawing/2014/main" id="{B06B13BA-1BBB-E2C6-2DE3-550D0FD01592}"/>
                </a:ext>
              </a:extLst>
            </p:cNvPr>
            <p:cNvSpPr txBox="1"/>
            <p:nvPr/>
          </p:nvSpPr>
          <p:spPr>
            <a:xfrm>
              <a:off x="0" y="-85725"/>
              <a:ext cx="1202600" cy="127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Freeform 16">
            <a:extLst>
              <a:ext uri="{FF2B5EF4-FFF2-40B4-BE49-F238E27FC236}">
                <a16:creationId xmlns:a16="http://schemas.microsoft.com/office/drawing/2014/main" id="{B4C4DA1D-DE5F-F9EF-0149-2045C2A314F1}"/>
              </a:ext>
            </a:extLst>
          </p:cNvPr>
          <p:cNvSpPr/>
          <p:nvPr/>
        </p:nvSpPr>
        <p:spPr>
          <a:xfrm flipH="1" flipV="1">
            <a:off x="1571657" y="4264667"/>
            <a:ext cx="1292864" cy="1276409"/>
          </a:xfrm>
          <a:custGeom>
            <a:avLst/>
            <a:gdLst/>
            <a:ahLst/>
            <a:cxnLst/>
            <a:rect l="l" t="t" r="r" b="b"/>
            <a:pathLst>
              <a:path w="1292864" h="1276409">
                <a:moveTo>
                  <a:pt x="1292864" y="1276409"/>
                </a:moveTo>
                <a:lnTo>
                  <a:pt x="0" y="1276409"/>
                </a:lnTo>
                <a:lnTo>
                  <a:pt x="0" y="0"/>
                </a:lnTo>
                <a:lnTo>
                  <a:pt x="1292864" y="0"/>
                </a:lnTo>
                <a:lnTo>
                  <a:pt x="1292864" y="12764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7" name="TextBox 17">
            <a:extLst>
              <a:ext uri="{FF2B5EF4-FFF2-40B4-BE49-F238E27FC236}">
                <a16:creationId xmlns:a16="http://schemas.microsoft.com/office/drawing/2014/main" id="{775C35E1-18B7-786B-CBE0-E171C1DE511C}"/>
              </a:ext>
            </a:extLst>
          </p:cNvPr>
          <p:cNvSpPr txBox="1"/>
          <p:nvPr/>
        </p:nvSpPr>
        <p:spPr>
          <a:xfrm>
            <a:off x="1875916" y="4446683"/>
            <a:ext cx="42221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spc="-16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</a:t>
            </a:r>
          </a:p>
        </p:txBody>
      </p:sp>
      <p:sp>
        <p:nvSpPr>
          <p:cNvPr id="48" name="TextBox 18">
            <a:extLst>
              <a:ext uri="{FF2B5EF4-FFF2-40B4-BE49-F238E27FC236}">
                <a16:creationId xmlns:a16="http://schemas.microsoft.com/office/drawing/2014/main" id="{BFD4CA70-DB38-36B9-BDAA-88E84704C5E3}"/>
              </a:ext>
            </a:extLst>
          </p:cNvPr>
          <p:cNvSpPr txBox="1"/>
          <p:nvPr/>
        </p:nvSpPr>
        <p:spPr>
          <a:xfrm>
            <a:off x="2062637" y="4446683"/>
            <a:ext cx="3937878" cy="1356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개발 단계별 구조화된 </a:t>
            </a:r>
            <a:endParaRPr lang="en-US" altLang="ko-KR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산출물 기반 </a:t>
            </a:r>
            <a:endParaRPr lang="en-US" altLang="ko-KR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멀티 </a:t>
            </a:r>
            <a:r>
              <a:rPr lang="en-US" altLang="ko-KR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</a:t>
            </a: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에이전트 연계</a:t>
            </a:r>
          </a:p>
        </p:txBody>
      </p:sp>
      <p:grpSp>
        <p:nvGrpSpPr>
          <p:cNvPr id="49" name="Group 20">
            <a:extLst>
              <a:ext uri="{FF2B5EF4-FFF2-40B4-BE49-F238E27FC236}">
                <a16:creationId xmlns:a16="http://schemas.microsoft.com/office/drawing/2014/main" id="{EADD9E97-A958-3A65-F4AD-18427E4D3C0E}"/>
              </a:ext>
            </a:extLst>
          </p:cNvPr>
          <p:cNvGrpSpPr/>
          <p:nvPr/>
        </p:nvGrpSpPr>
        <p:grpSpPr>
          <a:xfrm>
            <a:off x="12115800" y="4257975"/>
            <a:ext cx="4566121" cy="4527205"/>
            <a:chOff x="0" y="0"/>
            <a:chExt cx="1202600" cy="1192350"/>
          </a:xfrm>
        </p:grpSpPr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AE3F407-B5A5-1794-9B53-870B532A6FEE}"/>
                </a:ext>
              </a:extLst>
            </p:cNvPr>
            <p:cNvSpPr/>
            <p:nvPr/>
          </p:nvSpPr>
          <p:spPr>
            <a:xfrm>
              <a:off x="0" y="0"/>
              <a:ext cx="1202600" cy="1192350"/>
            </a:xfrm>
            <a:custGeom>
              <a:avLst/>
              <a:gdLst/>
              <a:ahLst/>
              <a:cxnLst/>
              <a:rect l="l" t="t" r="r" b="b"/>
              <a:pathLst>
                <a:path w="1202600" h="1192350">
                  <a:moveTo>
                    <a:pt x="0" y="0"/>
                  </a:moveTo>
                  <a:lnTo>
                    <a:pt x="1202600" y="0"/>
                  </a:lnTo>
                  <a:lnTo>
                    <a:pt x="1202600" y="1192350"/>
                  </a:lnTo>
                  <a:lnTo>
                    <a:pt x="0" y="1192350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Box 22">
              <a:extLst>
                <a:ext uri="{FF2B5EF4-FFF2-40B4-BE49-F238E27FC236}">
                  <a16:creationId xmlns:a16="http://schemas.microsoft.com/office/drawing/2014/main" id="{0BE165DD-2D25-0C95-40FF-37D7B0BB381D}"/>
                </a:ext>
              </a:extLst>
            </p:cNvPr>
            <p:cNvSpPr txBox="1"/>
            <p:nvPr/>
          </p:nvSpPr>
          <p:spPr>
            <a:xfrm>
              <a:off x="0" y="-85725"/>
              <a:ext cx="1202600" cy="127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4" name="Freeform 25">
            <a:extLst>
              <a:ext uri="{FF2B5EF4-FFF2-40B4-BE49-F238E27FC236}">
                <a16:creationId xmlns:a16="http://schemas.microsoft.com/office/drawing/2014/main" id="{DE7A95D4-9605-8B72-204F-93C0291B028C}"/>
              </a:ext>
            </a:extLst>
          </p:cNvPr>
          <p:cNvSpPr/>
          <p:nvPr/>
        </p:nvSpPr>
        <p:spPr>
          <a:xfrm flipH="1" flipV="1">
            <a:off x="12115800" y="4257975"/>
            <a:ext cx="1292864" cy="1276409"/>
          </a:xfrm>
          <a:custGeom>
            <a:avLst/>
            <a:gdLst/>
            <a:ahLst/>
            <a:cxnLst/>
            <a:rect l="l" t="t" r="r" b="b"/>
            <a:pathLst>
              <a:path w="1292864" h="1276409">
                <a:moveTo>
                  <a:pt x="1292864" y="1276409"/>
                </a:moveTo>
                <a:lnTo>
                  <a:pt x="0" y="1276409"/>
                </a:lnTo>
                <a:lnTo>
                  <a:pt x="0" y="0"/>
                </a:lnTo>
                <a:lnTo>
                  <a:pt x="1292864" y="0"/>
                </a:lnTo>
                <a:lnTo>
                  <a:pt x="1292864" y="12764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Box 26">
            <a:extLst>
              <a:ext uri="{FF2B5EF4-FFF2-40B4-BE49-F238E27FC236}">
                <a16:creationId xmlns:a16="http://schemas.microsoft.com/office/drawing/2014/main" id="{437A6D7E-D37D-6CFC-5E33-BD4279C0E910}"/>
              </a:ext>
            </a:extLst>
          </p:cNvPr>
          <p:cNvSpPr txBox="1"/>
          <p:nvPr/>
        </p:nvSpPr>
        <p:spPr>
          <a:xfrm>
            <a:off x="12420060" y="4439991"/>
            <a:ext cx="42221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spc="-160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</a:t>
            </a:r>
          </a:p>
        </p:txBody>
      </p:sp>
      <p:sp>
        <p:nvSpPr>
          <p:cNvPr id="56" name="TextBox 27">
            <a:extLst>
              <a:ext uri="{FF2B5EF4-FFF2-40B4-BE49-F238E27FC236}">
                <a16:creationId xmlns:a16="http://schemas.microsoft.com/office/drawing/2014/main" id="{F8AB36E1-E275-C41E-EB23-B74725F9FA6F}"/>
              </a:ext>
            </a:extLst>
          </p:cNvPr>
          <p:cNvSpPr txBox="1"/>
          <p:nvPr/>
        </p:nvSpPr>
        <p:spPr>
          <a:xfrm>
            <a:off x="12646261" y="4586412"/>
            <a:ext cx="3937878" cy="89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altLang="ko-KR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CSP</a:t>
            </a: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별 클라우드 리소스 가이드라인 제공</a:t>
            </a:r>
          </a:p>
        </p:txBody>
      </p:sp>
      <p:grpSp>
        <p:nvGrpSpPr>
          <p:cNvPr id="57" name="Group 29">
            <a:extLst>
              <a:ext uri="{FF2B5EF4-FFF2-40B4-BE49-F238E27FC236}">
                <a16:creationId xmlns:a16="http://schemas.microsoft.com/office/drawing/2014/main" id="{576C335C-C71F-51C4-52C8-A026BBFFC695}"/>
              </a:ext>
            </a:extLst>
          </p:cNvPr>
          <p:cNvGrpSpPr/>
          <p:nvPr/>
        </p:nvGrpSpPr>
        <p:grpSpPr>
          <a:xfrm>
            <a:off x="6858000" y="4264667"/>
            <a:ext cx="4566121" cy="4527205"/>
            <a:chOff x="0" y="0"/>
            <a:chExt cx="1202600" cy="1192350"/>
          </a:xfrm>
        </p:grpSpPr>
        <p:sp>
          <p:nvSpPr>
            <p:cNvPr id="58" name="Freeform 30">
              <a:extLst>
                <a:ext uri="{FF2B5EF4-FFF2-40B4-BE49-F238E27FC236}">
                  <a16:creationId xmlns:a16="http://schemas.microsoft.com/office/drawing/2014/main" id="{3DDE501E-9B7A-F522-6ADF-C9099AAB6832}"/>
                </a:ext>
              </a:extLst>
            </p:cNvPr>
            <p:cNvSpPr/>
            <p:nvPr/>
          </p:nvSpPr>
          <p:spPr>
            <a:xfrm>
              <a:off x="0" y="0"/>
              <a:ext cx="1202600" cy="1192350"/>
            </a:xfrm>
            <a:custGeom>
              <a:avLst/>
              <a:gdLst/>
              <a:ahLst/>
              <a:cxnLst/>
              <a:rect l="l" t="t" r="r" b="b"/>
              <a:pathLst>
                <a:path w="1202600" h="1192350">
                  <a:moveTo>
                    <a:pt x="0" y="0"/>
                  </a:moveTo>
                  <a:lnTo>
                    <a:pt x="1202600" y="0"/>
                  </a:lnTo>
                  <a:lnTo>
                    <a:pt x="1202600" y="1192350"/>
                  </a:lnTo>
                  <a:lnTo>
                    <a:pt x="0" y="1192350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Box 31">
              <a:extLst>
                <a:ext uri="{FF2B5EF4-FFF2-40B4-BE49-F238E27FC236}">
                  <a16:creationId xmlns:a16="http://schemas.microsoft.com/office/drawing/2014/main" id="{C28A313A-65D9-1889-7DE0-D68D199735BF}"/>
                </a:ext>
              </a:extLst>
            </p:cNvPr>
            <p:cNvSpPr txBox="1"/>
            <p:nvPr/>
          </p:nvSpPr>
          <p:spPr>
            <a:xfrm>
              <a:off x="0" y="-85725"/>
              <a:ext cx="1202600" cy="127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0" name="Freeform 34">
            <a:extLst>
              <a:ext uri="{FF2B5EF4-FFF2-40B4-BE49-F238E27FC236}">
                <a16:creationId xmlns:a16="http://schemas.microsoft.com/office/drawing/2014/main" id="{1A31331E-253C-0B5F-319A-ADDECE8C6DBB}"/>
              </a:ext>
            </a:extLst>
          </p:cNvPr>
          <p:cNvSpPr/>
          <p:nvPr/>
        </p:nvSpPr>
        <p:spPr>
          <a:xfrm flipH="1" flipV="1">
            <a:off x="6858739" y="4264667"/>
            <a:ext cx="1292864" cy="1276409"/>
          </a:xfrm>
          <a:custGeom>
            <a:avLst/>
            <a:gdLst/>
            <a:ahLst/>
            <a:cxnLst/>
            <a:rect l="l" t="t" r="r" b="b"/>
            <a:pathLst>
              <a:path w="1292864" h="1276409">
                <a:moveTo>
                  <a:pt x="1292863" y="1276409"/>
                </a:moveTo>
                <a:lnTo>
                  <a:pt x="0" y="1276409"/>
                </a:lnTo>
                <a:lnTo>
                  <a:pt x="0" y="0"/>
                </a:lnTo>
                <a:lnTo>
                  <a:pt x="1292863" y="0"/>
                </a:lnTo>
                <a:lnTo>
                  <a:pt x="1292863" y="12764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Box 35">
            <a:extLst>
              <a:ext uri="{FF2B5EF4-FFF2-40B4-BE49-F238E27FC236}">
                <a16:creationId xmlns:a16="http://schemas.microsoft.com/office/drawing/2014/main" id="{B4277C91-AC0C-2C68-2D20-2F86905D0163}"/>
              </a:ext>
            </a:extLst>
          </p:cNvPr>
          <p:cNvSpPr txBox="1"/>
          <p:nvPr/>
        </p:nvSpPr>
        <p:spPr>
          <a:xfrm>
            <a:off x="7162259" y="4446683"/>
            <a:ext cx="422211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 spc="-160" dirty="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</a:t>
            </a:r>
          </a:p>
        </p:txBody>
      </p:sp>
      <p:sp>
        <p:nvSpPr>
          <p:cNvPr id="62" name="TextBox 36">
            <a:extLst>
              <a:ext uri="{FF2B5EF4-FFF2-40B4-BE49-F238E27FC236}">
                <a16:creationId xmlns:a16="http://schemas.microsoft.com/office/drawing/2014/main" id="{85C3208A-CC54-CD3C-0940-5CDCDECF6067}"/>
              </a:ext>
            </a:extLst>
          </p:cNvPr>
          <p:cNvSpPr txBox="1"/>
          <p:nvPr/>
        </p:nvSpPr>
        <p:spPr>
          <a:xfrm>
            <a:off x="7319571" y="4593103"/>
            <a:ext cx="3937878" cy="89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사용자 피드백 기반</a:t>
            </a:r>
            <a:endParaRPr lang="en-US" altLang="ko-KR" sz="2599" b="1" spc="-181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  <a:p>
            <a:pPr algn="ctr">
              <a:lnSpc>
                <a:spcPts val="3639"/>
              </a:lnSpc>
            </a:pPr>
            <a:r>
              <a:rPr lang="ko-KR" altLang="en-US" sz="2599" b="1" spc="-181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산출물 개선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591041-5573-1919-5FD7-F126EBC5A36C}"/>
              </a:ext>
            </a:extLst>
          </p:cNvPr>
          <p:cNvSpPr txBox="1"/>
          <p:nvPr/>
        </p:nvSpPr>
        <p:spPr>
          <a:xfrm>
            <a:off x="12282470" y="7517879"/>
            <a:ext cx="4232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39700" algn="just" latinLnBrk="1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ko-KR" sz="1800" b="1" kern="100" dirty="0" err="1">
                <a:effectLst/>
                <a:latin typeface="+mn-ea"/>
                <a:cs typeface="Arial" panose="020B0604020202020204" pitchFamily="34" charset="0"/>
              </a:rPr>
              <a:t>AWS·Azure·GCP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리소스 간 의존 관계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, VM 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사양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비용과 성능 정보를 활용하여 사용자 </a:t>
            </a:r>
            <a:r>
              <a:rPr lang="ko-KR" altLang="en-US" sz="1800" b="1" kern="100" dirty="0">
                <a:effectLst/>
                <a:latin typeface="+mn-ea"/>
                <a:cs typeface="Arial" panose="020B0604020202020204" pitchFamily="34" charset="0"/>
              </a:rPr>
              <a:t>요구조건에 맞는 클라우드 리소스 구성과 배포 방안 제시</a:t>
            </a:r>
            <a:endParaRPr lang="ko-KR" altLang="ko-KR" sz="1100" kern="100" dirty="0">
              <a:effectLst/>
              <a:latin typeface="+mn-ea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0659BD-A631-CA8A-EC75-C7467114C9B9}"/>
              </a:ext>
            </a:extLst>
          </p:cNvPr>
          <p:cNvSpPr txBox="1"/>
          <p:nvPr/>
        </p:nvSpPr>
        <p:spPr>
          <a:xfrm>
            <a:off x="7024670" y="7448371"/>
            <a:ext cx="4232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39700" algn="just" latinLnBrk="1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사용자가 단계별 산출물을 검토하고 피드백을 제공할 수 있도록 하며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800" b="1" kern="100" dirty="0">
                <a:effectLst/>
                <a:latin typeface="+mn-ea"/>
                <a:cs typeface="Arial" panose="020B0604020202020204" pitchFamily="34" charset="0"/>
              </a:rPr>
              <a:t>피드백의 대상과 영향 범위에 따라 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관련 산출물을 </a:t>
            </a:r>
            <a:r>
              <a:rPr lang="ko-KR" altLang="en-US" sz="1800" b="1" kern="100" dirty="0">
                <a:effectLst/>
                <a:latin typeface="+mn-ea"/>
                <a:cs typeface="Arial" panose="020B0604020202020204" pitchFamily="34" charset="0"/>
              </a:rPr>
              <a:t>일관되게 수정</a:t>
            </a:r>
            <a:endParaRPr lang="ko-KR" altLang="ko-KR" sz="1100" kern="100" dirty="0">
              <a:effectLst/>
              <a:latin typeface="+mn-ea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32E070-F1E6-72B1-0CF8-C0E56266A5B6}"/>
              </a:ext>
            </a:extLst>
          </p:cNvPr>
          <p:cNvSpPr txBox="1"/>
          <p:nvPr/>
        </p:nvSpPr>
        <p:spPr>
          <a:xfrm>
            <a:off x="1738329" y="7407810"/>
            <a:ext cx="4232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39700" algn="just" latinLnBrk="1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요구사항 분석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시스템 설계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구현과 테스트를 담당하는 에이전트를 구성하고</a:t>
            </a:r>
            <a:r>
              <a:rPr lang="en-US" altLang="ko-KR" sz="1800" kern="100" dirty="0">
                <a:effectLst/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각 단계의 </a:t>
            </a:r>
            <a:r>
              <a:rPr lang="ko-KR" altLang="en-US" sz="1800" b="1" kern="100" dirty="0">
                <a:effectLst/>
                <a:latin typeface="+mn-ea"/>
                <a:cs typeface="Arial" panose="020B0604020202020204" pitchFamily="34" charset="0"/>
              </a:rPr>
              <a:t>구조화된 산출물</a:t>
            </a:r>
            <a:r>
              <a:rPr lang="ko-KR" altLang="en-US" sz="1800" kern="100" dirty="0">
                <a:effectLst/>
                <a:latin typeface="+mn-ea"/>
                <a:cs typeface="Arial" panose="020B0604020202020204" pitchFamily="34" charset="0"/>
              </a:rPr>
              <a:t>이 다음 단계의 입력으로 이어지도록 연계</a:t>
            </a:r>
            <a:endParaRPr lang="ko-KR" altLang="ko-KR" sz="1100" kern="100" dirty="0">
              <a:effectLst/>
              <a:latin typeface="+mn-ea"/>
              <a:cs typeface="Arial" panose="020B0604020202020204" pitchFamily="34" charset="0"/>
            </a:endParaRPr>
          </a:p>
        </p:txBody>
      </p:sp>
      <p:pic>
        <p:nvPicPr>
          <p:cNvPr id="69" name="그림 68" descr="가이드라인 사진 - 무료 고품질 이미지 다운로드 | Magnific (구 Freepik)">
            <a:extLst>
              <a:ext uri="{FF2B5EF4-FFF2-40B4-BE49-F238E27FC236}">
                <a16:creationId xmlns:a16="http://schemas.microsoft.com/office/drawing/2014/main" id="{520531A9-615B-0403-BD66-49A76AF3F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0282" y="5492757"/>
            <a:ext cx="2906644" cy="1940381"/>
          </a:xfrm>
          <a:prstGeom prst="rect">
            <a:avLst/>
          </a:prstGeom>
        </p:spPr>
      </p:pic>
      <p:pic>
        <p:nvPicPr>
          <p:cNvPr id="76" name="그림 75" descr="직장인들 “자유로운 피드백, 너무 중요한데…한국에서 잘 될까요” - 경향신문">
            <a:extLst>
              <a:ext uri="{FF2B5EF4-FFF2-40B4-BE49-F238E27FC236}">
                <a16:creationId xmlns:a16="http://schemas.microsoft.com/office/drawing/2014/main" id="{45268ADE-05BA-D99D-F088-4377C01FA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441" y="5512698"/>
            <a:ext cx="2812138" cy="1876098"/>
          </a:xfrm>
          <a:prstGeom prst="rect">
            <a:avLst/>
          </a:prstGeom>
        </p:spPr>
      </p:pic>
      <p:pic>
        <p:nvPicPr>
          <p:cNvPr id="77" name="그림 76" descr="이제는 에이전트 여러개 동시에 쓰는 '멀티 AI 시대'">
            <a:extLst>
              <a:ext uri="{FF2B5EF4-FFF2-40B4-BE49-F238E27FC236}">
                <a16:creationId xmlns:a16="http://schemas.microsoft.com/office/drawing/2014/main" id="{126B3ED8-1593-3760-F351-46CFF2DD6E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498"/>
          <a:stretch>
            <a:fillRect/>
          </a:stretch>
        </p:blipFill>
        <p:spPr>
          <a:xfrm>
            <a:off x="2683611" y="5750952"/>
            <a:ext cx="2429181" cy="164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0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50F07-06EE-6D5C-F986-0BC9F9BE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0312D7-9747-17CE-ED9F-6DE94E3C9422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834A712-2A06-4A15-94B0-7EE8B274B218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BF92FC5-E341-0F33-4FD0-27C9622CF9DF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33F4D2D-68DC-ACE3-7D93-F80C3FC52E71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BE2D28F-E037-367C-06D5-20F1AA1538E3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049292F-3CED-CEE5-0948-B8773C3B9555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E0B09535-B043-FA2F-1CC4-76C7B39E89BF}"/>
              </a:ext>
            </a:extLst>
          </p:cNvPr>
          <p:cNvSpPr txBox="1"/>
          <p:nvPr/>
        </p:nvSpPr>
        <p:spPr>
          <a:xfrm>
            <a:off x="5087456" y="1824844"/>
            <a:ext cx="8113088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전체 시스템 구조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90C960EC-D1B7-324B-4FCE-3EFF6AB8BA13}"/>
              </a:ext>
            </a:extLst>
          </p:cNvPr>
          <p:cNvSpPr/>
          <p:nvPr/>
        </p:nvSpPr>
        <p:spPr>
          <a:xfrm>
            <a:off x="1676400" y="29337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B663A94-FF6D-F723-40A4-FBAB470CC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942" y="2993326"/>
            <a:ext cx="11662116" cy="672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4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15E3A-7AFA-E635-08B5-2FB761FD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87209A1-0A8F-47E3-C945-AD83267928A1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9BB262-6A74-1499-CCA8-721D99692586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37B5F29-FC6E-2D36-1A00-98FBF4B2EBDE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6E361EB-3AAE-F66C-8751-55B4E46A9C8B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EB9C8C9-901C-62F7-4D8A-80FA7B77F9B8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F1BEDE7-00E7-D91B-39A7-12B71F162382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AA145DFC-79B9-7C2F-D94F-546D4401E8CC}"/>
              </a:ext>
            </a:extLst>
          </p:cNvPr>
          <p:cNvSpPr txBox="1"/>
          <p:nvPr/>
        </p:nvSpPr>
        <p:spPr>
          <a:xfrm>
            <a:off x="5087456" y="1824844"/>
            <a:ext cx="8113088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요구사항 분석 에이전트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245B7F00-08FD-C4EB-679D-F2D6BA675C91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31A6BA2C-9456-4FA5-9B2E-006D19D603C5}"/>
              </a:ext>
            </a:extLst>
          </p:cNvPr>
          <p:cNvGrpSpPr/>
          <p:nvPr/>
        </p:nvGrpSpPr>
        <p:grpSpPr>
          <a:xfrm>
            <a:off x="6096000" y="3794127"/>
            <a:ext cx="10668000" cy="4668025"/>
            <a:chOff x="0" y="0"/>
            <a:chExt cx="1900390" cy="518286"/>
          </a:xfrm>
        </p:grpSpPr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9C0C5BC7-422F-B80A-D262-BC65713CBC1C}"/>
                </a:ext>
              </a:extLst>
            </p:cNvPr>
            <p:cNvSpPr/>
            <p:nvPr/>
          </p:nvSpPr>
          <p:spPr>
            <a:xfrm>
              <a:off x="0" y="0"/>
              <a:ext cx="1900390" cy="518286"/>
            </a:xfrm>
            <a:custGeom>
              <a:avLst/>
              <a:gdLst/>
              <a:ahLst/>
              <a:cxnLst/>
              <a:rect l="l" t="t" r="r" b="b"/>
              <a:pathLst>
                <a:path w="1900390" h="518286">
                  <a:moveTo>
                    <a:pt x="0" y="0"/>
                  </a:moveTo>
                  <a:lnTo>
                    <a:pt x="1900390" y="0"/>
                  </a:lnTo>
                  <a:lnTo>
                    <a:pt x="1900390" y="518286"/>
                  </a:lnTo>
                  <a:lnTo>
                    <a:pt x="0" y="518286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3">
              <a:extLst>
                <a:ext uri="{FF2B5EF4-FFF2-40B4-BE49-F238E27FC236}">
                  <a16:creationId xmlns:a16="http://schemas.microsoft.com/office/drawing/2014/main" id="{1D0E4C34-19D2-47FC-E0DD-DB237FC88FC5}"/>
                </a:ext>
              </a:extLst>
            </p:cNvPr>
            <p:cNvSpPr txBox="1"/>
            <p:nvPr/>
          </p:nvSpPr>
          <p:spPr>
            <a:xfrm>
              <a:off x="0" y="-85725"/>
              <a:ext cx="1900390" cy="60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6">
            <a:extLst>
              <a:ext uri="{FF2B5EF4-FFF2-40B4-BE49-F238E27FC236}">
                <a16:creationId xmlns:a16="http://schemas.microsoft.com/office/drawing/2014/main" id="{636D8211-3211-EE61-5CF5-84BCAB138ABC}"/>
              </a:ext>
            </a:extLst>
          </p:cNvPr>
          <p:cNvSpPr/>
          <p:nvPr/>
        </p:nvSpPr>
        <p:spPr>
          <a:xfrm flipH="1" flipV="1">
            <a:off x="6096000" y="3794128"/>
            <a:ext cx="575053" cy="567734"/>
          </a:xfrm>
          <a:custGeom>
            <a:avLst/>
            <a:gdLst/>
            <a:ahLst/>
            <a:cxnLst/>
            <a:rect l="l" t="t" r="r" b="b"/>
            <a:pathLst>
              <a:path w="575053" h="567734">
                <a:moveTo>
                  <a:pt x="575053" y="567734"/>
                </a:moveTo>
                <a:lnTo>
                  <a:pt x="0" y="567734"/>
                </a:lnTo>
                <a:lnTo>
                  <a:pt x="0" y="0"/>
                </a:lnTo>
                <a:lnTo>
                  <a:pt x="575053" y="0"/>
                </a:lnTo>
                <a:lnTo>
                  <a:pt x="575053" y="5677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66C37A-C780-D70C-204F-CF12532DC009}"/>
              </a:ext>
            </a:extLst>
          </p:cNvPr>
          <p:cNvSpPr txBox="1"/>
          <p:nvPr/>
        </p:nvSpPr>
        <p:spPr>
          <a:xfrm>
            <a:off x="6553200" y="4214304"/>
            <a:ext cx="9525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✓ 요구사항 분석 에이전트 </a:t>
            </a:r>
            <a:r>
              <a:rPr lang="en-US" altLang="ko-KR" sz="2000" dirty="0">
                <a:latin typeface="+mn-ea"/>
              </a:rPr>
              <a:t>: </a:t>
            </a:r>
          </a:p>
          <a:p>
            <a:r>
              <a:rPr lang="en-US" altLang="ko-KR" sz="2000" dirty="0">
                <a:latin typeface="+mn-ea"/>
              </a:rPr>
              <a:t>	- </a:t>
            </a:r>
            <a:r>
              <a:rPr lang="ko-KR" altLang="en-US" sz="2000" dirty="0">
                <a:latin typeface="+mn-ea"/>
              </a:rPr>
              <a:t>요구사항으로부터 </a:t>
            </a:r>
            <a:r>
              <a:rPr lang="ko-KR" altLang="en-US" sz="2000" dirty="0" err="1">
                <a:latin typeface="+mn-ea"/>
              </a:rPr>
              <a:t>유스케이스</a:t>
            </a:r>
            <a:r>
              <a:rPr lang="ko-KR" altLang="en-US" sz="2000" dirty="0">
                <a:latin typeface="+mn-ea"/>
              </a:rPr>
              <a:t> 다이어그램 및 </a:t>
            </a:r>
            <a:r>
              <a:rPr lang="ko-KR" altLang="en-US" sz="2000" dirty="0" err="1">
                <a:latin typeface="+mn-ea"/>
              </a:rPr>
              <a:t>유스케이스</a:t>
            </a:r>
            <a:r>
              <a:rPr lang="ko-KR" altLang="en-US" sz="2000" dirty="0">
                <a:latin typeface="+mn-ea"/>
              </a:rPr>
              <a:t> 명세서 생성</a:t>
            </a:r>
            <a:endParaRPr lang="en-US" altLang="ko-KR" sz="2000" dirty="0">
              <a:latin typeface="+mn-ea"/>
            </a:endParaRPr>
          </a:p>
          <a:p>
            <a:r>
              <a:rPr lang="en-US" altLang="ko-KR" sz="2000" dirty="0">
                <a:latin typeface="+mn-ea"/>
              </a:rPr>
              <a:t>	- </a:t>
            </a:r>
            <a:r>
              <a:rPr lang="ko-KR" altLang="en-US" sz="2000" dirty="0">
                <a:latin typeface="+mn-ea"/>
              </a:rPr>
              <a:t>요구사항에서의 클라우드 제약사항을 파악하는 에이전트</a:t>
            </a:r>
            <a:endParaRPr lang="en-US" altLang="ko-KR" sz="2000" dirty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✓ 요구사항 분석 에이전트는 사용자가 입력한 요구사항들을 사전 학습된 문장 분류 모델을 이용하여 </a:t>
            </a:r>
            <a:r>
              <a:rPr lang="ko-KR" altLang="en-US" sz="2000" b="1" dirty="0">
                <a:latin typeface="+mn-ea"/>
              </a:rPr>
              <a:t>기능적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비기능적 요구사항으로 분류</a:t>
            </a:r>
            <a:r>
              <a:rPr lang="ko-KR" altLang="en-US" sz="2000" dirty="0">
                <a:latin typeface="+mn-ea"/>
              </a:rPr>
              <a:t>하고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 err="1">
                <a:latin typeface="+mn-ea"/>
              </a:rPr>
              <a:t>유스케이스</a:t>
            </a:r>
            <a:r>
              <a:rPr lang="ko-KR" altLang="en-US" sz="2000" dirty="0">
                <a:latin typeface="+mn-ea"/>
              </a:rPr>
              <a:t> 작성 가이드를 </a:t>
            </a:r>
            <a:r>
              <a:rPr lang="ko-KR" altLang="en-US" sz="2000" dirty="0" err="1">
                <a:latin typeface="+mn-ea"/>
              </a:rPr>
              <a:t>프롬프팅한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LLM</a:t>
            </a:r>
            <a:r>
              <a:rPr lang="ko-KR" altLang="en-US" sz="2000" dirty="0">
                <a:latin typeface="+mn-ea"/>
              </a:rPr>
              <a:t>을 통해 </a:t>
            </a:r>
            <a:r>
              <a:rPr lang="ko-KR" altLang="en-US" sz="2000" dirty="0" err="1">
                <a:latin typeface="+mn-ea"/>
              </a:rPr>
              <a:t>액터</a:t>
            </a:r>
            <a:r>
              <a:rPr lang="ko-KR" altLang="en-US" sz="2000" dirty="0">
                <a:latin typeface="+mn-ea"/>
              </a:rPr>
              <a:t> 및 </a:t>
            </a:r>
            <a:r>
              <a:rPr lang="ko-KR" altLang="en-US" sz="2000" dirty="0" err="1">
                <a:latin typeface="+mn-ea"/>
              </a:rPr>
              <a:t>유스케이스를</a:t>
            </a:r>
            <a:r>
              <a:rPr lang="ko-KR" altLang="en-US" sz="2000" dirty="0">
                <a:latin typeface="+mn-ea"/>
              </a:rPr>
              <a:t> 식별하여 </a:t>
            </a:r>
            <a:r>
              <a:rPr lang="ko-KR" altLang="en-US" sz="2000" b="1" dirty="0" err="1">
                <a:latin typeface="+mn-ea"/>
              </a:rPr>
              <a:t>유스케이스</a:t>
            </a:r>
            <a:r>
              <a:rPr lang="ko-KR" altLang="en-US" sz="2000" b="1" dirty="0">
                <a:latin typeface="+mn-ea"/>
              </a:rPr>
              <a:t> 명세서 및 </a:t>
            </a:r>
            <a:r>
              <a:rPr lang="ko-KR" altLang="en-US" sz="2000" b="1" dirty="0" err="1">
                <a:latin typeface="+mn-ea"/>
              </a:rPr>
              <a:t>유스케이스</a:t>
            </a:r>
            <a:r>
              <a:rPr lang="ko-KR" altLang="en-US" sz="2000" b="1" dirty="0">
                <a:latin typeface="+mn-ea"/>
              </a:rPr>
              <a:t> 다이어그램을 생성</a:t>
            </a:r>
            <a:endParaRPr lang="en-US" altLang="ko-KR" sz="2000" dirty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✓ 또한 </a:t>
            </a:r>
            <a:r>
              <a:rPr lang="ko-KR" altLang="en-US" sz="2000" b="1" dirty="0">
                <a:latin typeface="+mn-ea"/>
              </a:rPr>
              <a:t>클라우드 지식 베이스</a:t>
            </a:r>
            <a:r>
              <a:rPr lang="ko-KR" altLang="en-US" sz="2000" dirty="0">
                <a:latin typeface="+mn-ea"/>
              </a:rPr>
              <a:t>를 기반으로 사용자가 입력한 </a:t>
            </a:r>
            <a:r>
              <a:rPr lang="ko-KR" altLang="en-US" sz="2000" dirty="0" err="1">
                <a:latin typeface="+mn-ea"/>
              </a:rPr>
              <a:t>요구사항들로부터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클라우드 리소스 제약사항들을 식별</a:t>
            </a:r>
            <a:r>
              <a:rPr lang="ko-KR" altLang="en-US" sz="2000" dirty="0">
                <a:latin typeface="+mn-ea"/>
              </a:rPr>
              <a:t>하여 클라우드 리소스 가이드라인에 필요한 정보를 수집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9370075-3B52-4A59-143F-01C45123E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249147"/>
            <a:ext cx="3579748" cy="609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69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173E9-34F9-4C03-FC75-47B403A8C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158935E-2655-5387-19EA-046D9E619EEF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FD8E1A-5CF4-4873-D261-28547CACBD2F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C3BBFB-5B1B-3476-A419-954B753BA64D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3C7257E-C99C-1A38-CFDC-B337DB2347C0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76F9083-C56A-190D-A575-4554269D8593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275AB5D-E20A-A08A-EF5A-45A38199845F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4C79007F-ACC0-B93F-65C0-7154284FD680}"/>
              </a:ext>
            </a:extLst>
          </p:cNvPr>
          <p:cNvSpPr txBox="1"/>
          <p:nvPr/>
        </p:nvSpPr>
        <p:spPr>
          <a:xfrm>
            <a:off x="2971800" y="1824844"/>
            <a:ext cx="12344400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클라우드 배포 가이드라인 제공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187F7288-7D46-2214-5DD4-8C3ED4FB4258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5A65BE6-0DA8-90CD-1A2E-497EC6774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23" b="7131"/>
          <a:stretch>
            <a:fillRect/>
          </a:stretch>
        </p:blipFill>
        <p:spPr>
          <a:xfrm>
            <a:off x="3381343" y="3245585"/>
            <a:ext cx="11525314" cy="62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3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E77AE-FEBB-CDE3-B333-81C214041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7ABCBE-8230-7724-BECD-4B27F001571B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7FD3F5-4B2A-E264-7B9F-32FBEB94F7BD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450B12C-6054-A8B1-A16A-163F946ACD6E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EFE1E51-667B-5131-53F4-8799D2B9B0CC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B04D2B-EE85-CC4C-190A-D1E6D0F62779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40EB28B-529A-B1F6-F6C9-4B70FF832DBF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D075B87E-A1D2-59CE-60F4-0995BC98F513}"/>
              </a:ext>
            </a:extLst>
          </p:cNvPr>
          <p:cNvSpPr txBox="1"/>
          <p:nvPr/>
        </p:nvSpPr>
        <p:spPr>
          <a:xfrm>
            <a:off x="5087456" y="1824844"/>
            <a:ext cx="8113088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시스템 설계 에이전트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C2DB6891-0A79-D560-75B5-A9C54DD17E4D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8" name="Group 11">
            <a:extLst>
              <a:ext uri="{FF2B5EF4-FFF2-40B4-BE49-F238E27FC236}">
                <a16:creationId xmlns:a16="http://schemas.microsoft.com/office/drawing/2014/main" id="{AFEDA26A-8796-179F-15AA-80C62A6E0B86}"/>
              </a:ext>
            </a:extLst>
          </p:cNvPr>
          <p:cNvGrpSpPr/>
          <p:nvPr/>
        </p:nvGrpSpPr>
        <p:grpSpPr>
          <a:xfrm>
            <a:off x="6096000" y="3794128"/>
            <a:ext cx="10668000" cy="4473572"/>
            <a:chOff x="0" y="0"/>
            <a:chExt cx="1900390" cy="518286"/>
          </a:xfrm>
        </p:grpSpPr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C4EACF5-F867-C2A2-6C04-3746C96648EB}"/>
                </a:ext>
              </a:extLst>
            </p:cNvPr>
            <p:cNvSpPr/>
            <p:nvPr/>
          </p:nvSpPr>
          <p:spPr>
            <a:xfrm>
              <a:off x="0" y="0"/>
              <a:ext cx="1900390" cy="518286"/>
            </a:xfrm>
            <a:custGeom>
              <a:avLst/>
              <a:gdLst/>
              <a:ahLst/>
              <a:cxnLst/>
              <a:rect l="l" t="t" r="r" b="b"/>
              <a:pathLst>
                <a:path w="1900390" h="518286">
                  <a:moveTo>
                    <a:pt x="0" y="0"/>
                  </a:moveTo>
                  <a:lnTo>
                    <a:pt x="1900390" y="0"/>
                  </a:lnTo>
                  <a:lnTo>
                    <a:pt x="1900390" y="518286"/>
                  </a:lnTo>
                  <a:lnTo>
                    <a:pt x="0" y="518286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13">
              <a:extLst>
                <a:ext uri="{FF2B5EF4-FFF2-40B4-BE49-F238E27FC236}">
                  <a16:creationId xmlns:a16="http://schemas.microsoft.com/office/drawing/2014/main" id="{FD328632-A58A-FCDC-00FA-AECE3068BA4B}"/>
                </a:ext>
              </a:extLst>
            </p:cNvPr>
            <p:cNvSpPr txBox="1"/>
            <p:nvPr/>
          </p:nvSpPr>
          <p:spPr>
            <a:xfrm>
              <a:off x="0" y="-85725"/>
              <a:ext cx="1900390" cy="60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16">
            <a:extLst>
              <a:ext uri="{FF2B5EF4-FFF2-40B4-BE49-F238E27FC236}">
                <a16:creationId xmlns:a16="http://schemas.microsoft.com/office/drawing/2014/main" id="{7B734247-395E-5B96-54A1-C26D28645C2D}"/>
              </a:ext>
            </a:extLst>
          </p:cNvPr>
          <p:cNvSpPr/>
          <p:nvPr/>
        </p:nvSpPr>
        <p:spPr>
          <a:xfrm flipH="1" flipV="1">
            <a:off x="6096000" y="3794128"/>
            <a:ext cx="575053" cy="567734"/>
          </a:xfrm>
          <a:custGeom>
            <a:avLst/>
            <a:gdLst/>
            <a:ahLst/>
            <a:cxnLst/>
            <a:rect l="l" t="t" r="r" b="b"/>
            <a:pathLst>
              <a:path w="575053" h="567734">
                <a:moveTo>
                  <a:pt x="575053" y="567734"/>
                </a:moveTo>
                <a:lnTo>
                  <a:pt x="0" y="567734"/>
                </a:lnTo>
                <a:lnTo>
                  <a:pt x="0" y="0"/>
                </a:lnTo>
                <a:lnTo>
                  <a:pt x="575053" y="0"/>
                </a:lnTo>
                <a:lnTo>
                  <a:pt x="575053" y="5677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1E2594-3F83-53E7-489F-9C4D0EE50159}"/>
              </a:ext>
            </a:extLst>
          </p:cNvPr>
          <p:cNvSpPr txBox="1"/>
          <p:nvPr/>
        </p:nvSpPr>
        <p:spPr>
          <a:xfrm>
            <a:off x="6553200" y="4224660"/>
            <a:ext cx="952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✓ 시스템 설계 에이전트 </a:t>
            </a:r>
            <a:r>
              <a:rPr lang="en-US" altLang="ko-KR" sz="2000" dirty="0">
                <a:latin typeface="+mn-ea"/>
              </a:rPr>
              <a:t>:</a:t>
            </a:r>
          </a:p>
          <a:p>
            <a:r>
              <a:rPr lang="en-US" altLang="ko-KR" sz="2000" dirty="0">
                <a:latin typeface="+mn-ea"/>
              </a:rPr>
              <a:t>	- </a:t>
            </a:r>
            <a:r>
              <a:rPr lang="ko-KR" altLang="en-US" sz="2000" dirty="0" err="1">
                <a:latin typeface="+mn-ea"/>
              </a:rPr>
              <a:t>유스케이스</a:t>
            </a:r>
            <a:r>
              <a:rPr lang="ko-KR" altLang="en-US" sz="2000" dirty="0">
                <a:latin typeface="+mn-ea"/>
              </a:rPr>
              <a:t> 명세서를 바탕으로 클래스 다이어그램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시퀀스 다이어그램</a:t>
            </a:r>
            <a:r>
              <a:rPr lang="en-US" altLang="ko-KR" sz="2000" dirty="0">
                <a:latin typeface="+mn-ea"/>
              </a:rPr>
              <a:t>, 	  ERD, API </a:t>
            </a:r>
            <a:r>
              <a:rPr lang="ko-KR" altLang="en-US" sz="2000" dirty="0">
                <a:latin typeface="+mn-ea"/>
              </a:rPr>
              <a:t>명세서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배포 다이어그램을 생성하는 에이전트</a:t>
            </a:r>
            <a:endParaRPr lang="en-US" altLang="ko-KR" sz="20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ED1CD2-1426-03A6-54F7-964B7563B9CD}"/>
              </a:ext>
            </a:extLst>
          </p:cNvPr>
          <p:cNvSpPr txBox="1"/>
          <p:nvPr/>
        </p:nvSpPr>
        <p:spPr>
          <a:xfrm>
            <a:off x="6553200" y="5475677"/>
            <a:ext cx="9525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✓ 설계 산출물 생성과정의 예로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가장 먼저 산출되는 클래스 다이어그램은 </a:t>
            </a:r>
            <a:r>
              <a:rPr lang="ko-KR" altLang="en-US" sz="2000" dirty="0" err="1">
                <a:latin typeface="+mn-ea"/>
              </a:rPr>
              <a:t>유스케이스</a:t>
            </a:r>
            <a:r>
              <a:rPr lang="ko-KR" altLang="en-US" sz="2000" dirty="0">
                <a:latin typeface="+mn-ea"/>
              </a:rPr>
              <a:t> 명세서로부터 </a:t>
            </a:r>
            <a:r>
              <a:rPr lang="en-US" altLang="ko-KR" sz="2000" dirty="0">
                <a:latin typeface="+mn-ea"/>
              </a:rPr>
              <a:t>BCE </a:t>
            </a:r>
            <a:r>
              <a:rPr lang="ko-KR" altLang="en-US" sz="2000" dirty="0">
                <a:latin typeface="+mn-ea"/>
              </a:rPr>
              <a:t>설계 패턴에 해당하는 </a:t>
            </a:r>
            <a:r>
              <a:rPr lang="ko-KR" altLang="en-US" sz="2000" b="1" dirty="0">
                <a:latin typeface="+mn-ea"/>
              </a:rPr>
              <a:t>클래스 목록들을 추출</a:t>
            </a:r>
            <a:r>
              <a:rPr lang="ko-KR" altLang="en-US" sz="2000" dirty="0">
                <a:latin typeface="+mn-ea"/>
              </a:rPr>
              <a:t>하고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 err="1">
                <a:latin typeface="+mn-ea"/>
              </a:rPr>
              <a:t>유스케이스</a:t>
            </a:r>
            <a:r>
              <a:rPr lang="ko-KR" altLang="en-US" sz="2000" dirty="0">
                <a:latin typeface="+mn-ea"/>
              </a:rPr>
              <a:t> 명세서의 시나리오로부터 필요한 메서드들을 추출하며 시나리오 흐름에 따라 </a:t>
            </a:r>
            <a:r>
              <a:rPr lang="ko-KR" altLang="en-US" sz="2000" b="1" dirty="0" err="1">
                <a:latin typeface="+mn-ea"/>
              </a:rPr>
              <a:t>호출트리를</a:t>
            </a:r>
            <a:r>
              <a:rPr lang="ko-KR" altLang="en-US" sz="2000" b="1" dirty="0">
                <a:latin typeface="+mn-ea"/>
              </a:rPr>
              <a:t> 생성</a:t>
            </a:r>
            <a:r>
              <a:rPr lang="ko-KR" altLang="en-US" sz="2000" dirty="0">
                <a:latin typeface="+mn-ea"/>
              </a:rPr>
              <a:t>한다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endParaRPr lang="en-US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✓ 위 과정을 통해 클래스 다이어그램을 생성하고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생성한 </a:t>
            </a:r>
            <a:r>
              <a:rPr lang="ko-KR" altLang="en-US" sz="2000" dirty="0" err="1">
                <a:latin typeface="+mn-ea"/>
              </a:rPr>
              <a:t>호출트리를</a:t>
            </a:r>
            <a:r>
              <a:rPr lang="ko-KR" altLang="en-US" sz="2000" dirty="0">
                <a:latin typeface="+mn-ea"/>
              </a:rPr>
              <a:t> 통해 시퀀스 다이어그램을 생성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24E6903-CAC0-51FD-6A65-DE9808A45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238500"/>
            <a:ext cx="3652998" cy="62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7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1043C-732C-7F40-8941-75D6A2FE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9ED81D-9BB0-67E7-5F25-AB4FDFC40711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05FC3B3-79E2-A75F-0DEC-5E0D8E482292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179FE1-233D-E948-BCE1-FFA37A56FCF1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557E0BB-6D5A-3459-4AB0-3FAD5DBEBA53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0D23A28-2CA9-0E63-EEB4-BFD0C77C6671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1A971B-D5F0-6A39-F95B-7E19BA5BC1F1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D082F6BC-19FC-F2BE-8AED-667981E86E16}"/>
              </a:ext>
            </a:extLst>
          </p:cNvPr>
          <p:cNvSpPr txBox="1"/>
          <p:nvPr/>
        </p:nvSpPr>
        <p:spPr>
          <a:xfrm>
            <a:off x="5087456" y="1824844"/>
            <a:ext cx="8113088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시스템 구현 에이전트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2A6F7791-CFBC-CADA-38DE-23433037E13A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6" name="Group 11">
            <a:extLst>
              <a:ext uri="{FF2B5EF4-FFF2-40B4-BE49-F238E27FC236}">
                <a16:creationId xmlns:a16="http://schemas.microsoft.com/office/drawing/2014/main" id="{B81C52A8-7A4D-5512-FC19-2272D04782A1}"/>
              </a:ext>
            </a:extLst>
          </p:cNvPr>
          <p:cNvGrpSpPr/>
          <p:nvPr/>
        </p:nvGrpSpPr>
        <p:grpSpPr>
          <a:xfrm>
            <a:off x="6096000" y="3794128"/>
            <a:ext cx="10668000" cy="4473572"/>
            <a:chOff x="0" y="0"/>
            <a:chExt cx="1900390" cy="518286"/>
          </a:xfrm>
        </p:grpSpPr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D49CEAF-4BBA-5308-B40F-6DA447946A96}"/>
                </a:ext>
              </a:extLst>
            </p:cNvPr>
            <p:cNvSpPr/>
            <p:nvPr/>
          </p:nvSpPr>
          <p:spPr>
            <a:xfrm>
              <a:off x="0" y="0"/>
              <a:ext cx="1900390" cy="518286"/>
            </a:xfrm>
            <a:custGeom>
              <a:avLst/>
              <a:gdLst/>
              <a:ahLst/>
              <a:cxnLst/>
              <a:rect l="l" t="t" r="r" b="b"/>
              <a:pathLst>
                <a:path w="1900390" h="518286">
                  <a:moveTo>
                    <a:pt x="0" y="0"/>
                  </a:moveTo>
                  <a:lnTo>
                    <a:pt x="1900390" y="0"/>
                  </a:lnTo>
                  <a:lnTo>
                    <a:pt x="1900390" y="518286"/>
                  </a:lnTo>
                  <a:lnTo>
                    <a:pt x="0" y="518286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7AC598A3-E31A-58E4-36A6-7A100B9A044E}"/>
                </a:ext>
              </a:extLst>
            </p:cNvPr>
            <p:cNvSpPr txBox="1"/>
            <p:nvPr/>
          </p:nvSpPr>
          <p:spPr>
            <a:xfrm>
              <a:off x="0" y="-85725"/>
              <a:ext cx="1900390" cy="60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6">
            <a:extLst>
              <a:ext uri="{FF2B5EF4-FFF2-40B4-BE49-F238E27FC236}">
                <a16:creationId xmlns:a16="http://schemas.microsoft.com/office/drawing/2014/main" id="{A88B3512-AB23-EF8E-381E-F60BE1E209C9}"/>
              </a:ext>
            </a:extLst>
          </p:cNvPr>
          <p:cNvSpPr/>
          <p:nvPr/>
        </p:nvSpPr>
        <p:spPr>
          <a:xfrm flipH="1" flipV="1">
            <a:off x="6096000" y="3794128"/>
            <a:ext cx="575053" cy="567734"/>
          </a:xfrm>
          <a:custGeom>
            <a:avLst/>
            <a:gdLst/>
            <a:ahLst/>
            <a:cxnLst/>
            <a:rect l="l" t="t" r="r" b="b"/>
            <a:pathLst>
              <a:path w="575053" h="567734">
                <a:moveTo>
                  <a:pt x="575053" y="567734"/>
                </a:moveTo>
                <a:lnTo>
                  <a:pt x="0" y="567734"/>
                </a:lnTo>
                <a:lnTo>
                  <a:pt x="0" y="0"/>
                </a:lnTo>
                <a:lnTo>
                  <a:pt x="575053" y="0"/>
                </a:lnTo>
                <a:lnTo>
                  <a:pt x="575053" y="5677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D3F3CE-EAA9-6C41-8928-B8BF4A07A69B}"/>
              </a:ext>
            </a:extLst>
          </p:cNvPr>
          <p:cNvSpPr txBox="1"/>
          <p:nvPr/>
        </p:nvSpPr>
        <p:spPr>
          <a:xfrm>
            <a:off x="6553200" y="4077995"/>
            <a:ext cx="9525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✓ </a:t>
            </a:r>
            <a:r>
              <a:rPr lang="ko-KR" altLang="ko-KR" sz="2000" dirty="0"/>
              <a:t>시스템 구현 에이전트</a:t>
            </a:r>
            <a:r>
              <a:rPr lang="en-US" altLang="ko-KR" sz="2000" dirty="0"/>
              <a:t> :</a:t>
            </a:r>
            <a:r>
              <a:rPr lang="ko-KR" altLang="ko-KR" sz="2000" dirty="0"/>
              <a:t> </a:t>
            </a:r>
            <a:endParaRPr lang="en-US" altLang="ko-KR" sz="2000" dirty="0"/>
          </a:p>
          <a:p>
            <a:r>
              <a:rPr lang="en-US" altLang="ko-KR" sz="2000" dirty="0"/>
              <a:t>	- </a:t>
            </a:r>
            <a:r>
              <a:rPr lang="ko-KR" altLang="ko-KR" sz="2000" dirty="0"/>
              <a:t>시스템 설계 에이전트에서 생성된 클래스 다이어그램, 시퀀스 다이어그램, </a:t>
            </a:r>
            <a:r>
              <a:rPr lang="en-US" altLang="ko-KR" sz="2000" dirty="0"/>
              <a:t>	   </a:t>
            </a:r>
            <a:r>
              <a:rPr lang="ko-KR" altLang="ko-KR" sz="2000" dirty="0"/>
              <a:t>API 명세 및 ER 다이어그램을 기반으로 애플리케이션의 구조와 동작을 </a:t>
            </a:r>
            <a:r>
              <a:rPr lang="en-US" altLang="ko-KR" sz="2000" dirty="0"/>
              <a:t>	 	  </a:t>
            </a:r>
            <a:r>
              <a:rPr lang="ko-KR" altLang="ko-KR" sz="2000" dirty="0"/>
              <a:t>구현</a:t>
            </a:r>
            <a:r>
              <a:rPr lang="ko-KR" altLang="en-US" sz="2000" dirty="0"/>
              <a:t>하는 에이전트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>
                <a:latin typeface="+mn-ea"/>
              </a:rPr>
              <a:t>✓ </a:t>
            </a:r>
            <a:r>
              <a:rPr lang="ko-KR" altLang="ko-KR" sz="2000" dirty="0"/>
              <a:t>클래스 </a:t>
            </a:r>
            <a:r>
              <a:rPr lang="ko-KR" altLang="en-US" sz="2000" dirty="0"/>
              <a:t>다이어그램을 바탕으로 </a:t>
            </a:r>
            <a:r>
              <a:rPr lang="ko-KR" altLang="en-US" sz="2000" b="1" dirty="0"/>
              <a:t>스켈레톤 코드를 생성</a:t>
            </a:r>
            <a:r>
              <a:rPr lang="ko-KR" altLang="en-US" sz="2000" dirty="0"/>
              <a:t>하고</a:t>
            </a:r>
            <a:r>
              <a:rPr lang="en-US" altLang="ko-KR" sz="2000" dirty="0"/>
              <a:t>,</a:t>
            </a:r>
            <a:r>
              <a:rPr lang="ko-KR" altLang="ko-KR" sz="2000" dirty="0"/>
              <a:t> </a:t>
            </a:r>
            <a:r>
              <a:rPr lang="ko-KR" altLang="en-US" sz="2000" dirty="0"/>
              <a:t>오픈소스 코딩 에이전트를 활용하여 </a:t>
            </a:r>
            <a:r>
              <a:rPr lang="ko-KR" altLang="ko-KR" sz="2000" dirty="0"/>
              <a:t>시퀀스 다이어그램을 바탕으로 </a:t>
            </a:r>
            <a:r>
              <a:rPr lang="ko-KR" altLang="ko-KR" sz="2000" dirty="0" err="1"/>
              <a:t>유스케이스</a:t>
            </a:r>
            <a:r>
              <a:rPr lang="ko-KR" altLang="ko-KR" sz="2000" dirty="0"/>
              <a:t> 명세와 API 명세를 반영하여 </a:t>
            </a:r>
            <a:r>
              <a:rPr lang="ko-KR" altLang="ko-KR" sz="2000" b="1" dirty="0"/>
              <a:t>요구사항에 맞는 서비스 동작 코드와 테스트 코드를 생성</a:t>
            </a:r>
            <a:r>
              <a:rPr lang="ko-KR" altLang="ko-KR" sz="2000" dirty="0"/>
              <a:t>한다.</a:t>
            </a:r>
            <a:endParaRPr lang="en-US" altLang="ko-KR" sz="2000" dirty="0"/>
          </a:p>
          <a:p>
            <a:endParaRPr lang="ko-KR" altLang="ko-KR" sz="2000" dirty="0"/>
          </a:p>
          <a:p>
            <a:r>
              <a:rPr lang="ko-KR" altLang="en-US" sz="2000" dirty="0">
                <a:latin typeface="+mn-ea"/>
              </a:rPr>
              <a:t>✓ </a:t>
            </a:r>
            <a:r>
              <a:rPr lang="ko-KR" altLang="ko-KR" sz="2000" dirty="0"/>
              <a:t>ER 다이어그램을 기반으로 </a:t>
            </a:r>
            <a:r>
              <a:rPr lang="ko-KR" altLang="ko-KR" sz="2000" b="1" dirty="0"/>
              <a:t>데이터베이스 테이블과 스키마를 구성하는 </a:t>
            </a:r>
            <a:r>
              <a:rPr lang="ko-KR" altLang="ko-KR" sz="2000" b="1" dirty="0" err="1"/>
              <a:t>SQL문을</a:t>
            </a:r>
            <a:r>
              <a:rPr lang="ko-KR" altLang="ko-KR" sz="2000" b="1" dirty="0"/>
              <a:t> 생성</a:t>
            </a:r>
            <a:r>
              <a:rPr lang="ko-KR" altLang="ko-KR" sz="2000" dirty="0"/>
              <a:t>하며, 배포 다이어그램과 클라우드 리소스 구성 정보를 바탕으로 </a:t>
            </a:r>
            <a:r>
              <a:rPr lang="ko-KR" altLang="ko-KR" sz="2000" dirty="0" err="1"/>
              <a:t>Docker</a:t>
            </a:r>
            <a:r>
              <a:rPr lang="ko-KR" altLang="ko-KR" sz="2000" dirty="0"/>
              <a:t> 설정 및 </a:t>
            </a:r>
            <a:r>
              <a:rPr lang="ko-KR" altLang="ko-KR" sz="2000" dirty="0" err="1"/>
              <a:t>Terraform과</a:t>
            </a:r>
            <a:r>
              <a:rPr lang="ko-KR" altLang="ko-KR" sz="2000" dirty="0"/>
              <a:t> 같은 </a:t>
            </a:r>
            <a:r>
              <a:rPr lang="ko-KR" altLang="ko-KR" sz="2000" b="1" dirty="0"/>
              <a:t>클라우드 리소스 배포 파일을 생성</a:t>
            </a:r>
            <a:r>
              <a:rPr lang="ko-KR" altLang="ko-KR" sz="2000" dirty="0"/>
              <a:t>하여 애플리케이션이 클라우드 환경에서 실행될 수 있도록 </a:t>
            </a:r>
            <a:r>
              <a:rPr lang="ko-KR" altLang="en-US" sz="2000" dirty="0"/>
              <a:t>함</a:t>
            </a:r>
            <a:endParaRPr lang="ko-KR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B7D86B-07D2-DC02-FC2E-6802FCCEE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80" y="3228827"/>
            <a:ext cx="3642116" cy="620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3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2FA87-193A-E4E2-338C-AA55060A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2B57A1-3598-F3AA-B483-4BA24263B0B1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B4B31DF-3881-918F-6F24-4A01692CC963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0B306D3-97FA-9A86-9FBE-9037D4FDD3A2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13586B7-5CCF-52CA-ED7A-657D22C18E53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1D87F71-4084-20B5-A962-64FC3D29AA0A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8000E84-1B1E-7792-E2BF-19F1EFB5D9A2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36FDF3C8-666C-2416-7090-BD7141DFCD35}"/>
              </a:ext>
            </a:extLst>
          </p:cNvPr>
          <p:cNvSpPr txBox="1"/>
          <p:nvPr/>
        </p:nvSpPr>
        <p:spPr>
          <a:xfrm>
            <a:off x="5087456" y="1824844"/>
            <a:ext cx="8113088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테스팅 에이전트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4E3C40E4-58A9-1DEF-A692-BF2AED502B47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6" name="Group 11">
            <a:extLst>
              <a:ext uri="{FF2B5EF4-FFF2-40B4-BE49-F238E27FC236}">
                <a16:creationId xmlns:a16="http://schemas.microsoft.com/office/drawing/2014/main" id="{878524D8-89BB-1AD5-02AA-1402EFDC122B}"/>
              </a:ext>
            </a:extLst>
          </p:cNvPr>
          <p:cNvGrpSpPr/>
          <p:nvPr/>
        </p:nvGrpSpPr>
        <p:grpSpPr>
          <a:xfrm>
            <a:off x="6096000" y="3794128"/>
            <a:ext cx="10668000" cy="4473572"/>
            <a:chOff x="0" y="0"/>
            <a:chExt cx="1900390" cy="518286"/>
          </a:xfrm>
        </p:grpSpPr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C87EA41A-8E5E-2A89-0733-AE7D4CFDEF15}"/>
                </a:ext>
              </a:extLst>
            </p:cNvPr>
            <p:cNvSpPr/>
            <p:nvPr/>
          </p:nvSpPr>
          <p:spPr>
            <a:xfrm>
              <a:off x="0" y="0"/>
              <a:ext cx="1900390" cy="518286"/>
            </a:xfrm>
            <a:custGeom>
              <a:avLst/>
              <a:gdLst/>
              <a:ahLst/>
              <a:cxnLst/>
              <a:rect l="l" t="t" r="r" b="b"/>
              <a:pathLst>
                <a:path w="1900390" h="518286">
                  <a:moveTo>
                    <a:pt x="0" y="0"/>
                  </a:moveTo>
                  <a:lnTo>
                    <a:pt x="1900390" y="0"/>
                  </a:lnTo>
                  <a:lnTo>
                    <a:pt x="1900390" y="518286"/>
                  </a:lnTo>
                  <a:lnTo>
                    <a:pt x="0" y="518286"/>
                  </a:lnTo>
                  <a:close/>
                </a:path>
              </a:pathLst>
            </a:custGeom>
            <a:ln w="28575" cap="sq">
              <a:solidFill>
                <a:srgbClr val="5BA1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2971B582-A303-7B0D-38E5-B1FEBB235F57}"/>
                </a:ext>
              </a:extLst>
            </p:cNvPr>
            <p:cNvSpPr txBox="1"/>
            <p:nvPr/>
          </p:nvSpPr>
          <p:spPr>
            <a:xfrm>
              <a:off x="0" y="-85725"/>
              <a:ext cx="1900390" cy="60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2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6">
            <a:extLst>
              <a:ext uri="{FF2B5EF4-FFF2-40B4-BE49-F238E27FC236}">
                <a16:creationId xmlns:a16="http://schemas.microsoft.com/office/drawing/2014/main" id="{4BF1CE03-CDD0-B929-4053-151B9F165D4B}"/>
              </a:ext>
            </a:extLst>
          </p:cNvPr>
          <p:cNvSpPr/>
          <p:nvPr/>
        </p:nvSpPr>
        <p:spPr>
          <a:xfrm flipH="1" flipV="1">
            <a:off x="6096000" y="3794128"/>
            <a:ext cx="575053" cy="567734"/>
          </a:xfrm>
          <a:custGeom>
            <a:avLst/>
            <a:gdLst/>
            <a:ahLst/>
            <a:cxnLst/>
            <a:rect l="l" t="t" r="r" b="b"/>
            <a:pathLst>
              <a:path w="575053" h="567734">
                <a:moveTo>
                  <a:pt x="575053" y="567734"/>
                </a:moveTo>
                <a:lnTo>
                  <a:pt x="0" y="567734"/>
                </a:lnTo>
                <a:lnTo>
                  <a:pt x="0" y="0"/>
                </a:lnTo>
                <a:lnTo>
                  <a:pt x="575053" y="0"/>
                </a:lnTo>
                <a:lnTo>
                  <a:pt x="575053" y="56773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1C412E-6945-72C3-CECE-67FE535FBFB9}"/>
              </a:ext>
            </a:extLst>
          </p:cNvPr>
          <p:cNvSpPr txBox="1"/>
          <p:nvPr/>
        </p:nvSpPr>
        <p:spPr>
          <a:xfrm>
            <a:off x="6534483" y="4000500"/>
            <a:ext cx="9525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✓ </a:t>
            </a:r>
            <a:r>
              <a:rPr lang="ko-KR" altLang="ko-KR" sz="2000" dirty="0"/>
              <a:t>테스팅 에이전트</a:t>
            </a:r>
            <a:r>
              <a:rPr lang="en-US" altLang="ko-KR" sz="2000" dirty="0"/>
              <a:t> :</a:t>
            </a:r>
          </a:p>
          <a:p>
            <a:r>
              <a:rPr lang="en-US" altLang="ko-KR" sz="2000" dirty="0"/>
              <a:t>	- </a:t>
            </a:r>
            <a:r>
              <a:rPr lang="ko-KR" altLang="ko-KR" sz="2000" dirty="0"/>
              <a:t>시스템 구현 에이전트에서 생성된 소스 코드, 테스트 코드, 컨테이너 설정 </a:t>
            </a:r>
            <a:r>
              <a:rPr lang="en-US" altLang="ko-KR" sz="2000" dirty="0"/>
              <a:t>	  	   </a:t>
            </a:r>
            <a:r>
              <a:rPr lang="ko-KR" altLang="ko-KR" sz="2000" dirty="0"/>
              <a:t>및 클라우드 배포 파일을 대상으로 산출물의 정합성과 실행 가능성을 </a:t>
            </a:r>
            <a:r>
              <a:rPr lang="en-US" altLang="ko-KR" sz="2000" dirty="0"/>
              <a:t>	  	   </a:t>
            </a:r>
            <a:r>
              <a:rPr lang="ko-KR" altLang="ko-KR" sz="2000" dirty="0"/>
              <a:t>검증</a:t>
            </a:r>
            <a:r>
              <a:rPr lang="ko-KR" altLang="en-US" sz="2000" dirty="0"/>
              <a:t>하는 에이전트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 </a:t>
            </a:r>
            <a:r>
              <a:rPr lang="ko-KR" altLang="en-US" sz="2000" dirty="0">
                <a:latin typeface="+mn-ea"/>
              </a:rPr>
              <a:t>✓ </a:t>
            </a:r>
            <a:r>
              <a:rPr lang="ko-KR" altLang="ko-KR" sz="2000" dirty="0"/>
              <a:t>배포된 애플리케이션의 상태 확인 </a:t>
            </a:r>
            <a:r>
              <a:rPr lang="ko-KR" altLang="ko-KR" sz="2000" dirty="0" err="1"/>
              <a:t>API와</a:t>
            </a:r>
            <a:r>
              <a:rPr lang="ko-KR" altLang="ko-KR" sz="2000" dirty="0"/>
              <a:t> 요구사항 기반 API 호출 시나리오를 실행하여 </a:t>
            </a:r>
            <a:r>
              <a:rPr lang="ko-KR" altLang="ko-KR" sz="2000" b="1" dirty="0"/>
              <a:t>서비스의 정상 동작 여부를 확인</a:t>
            </a:r>
            <a:r>
              <a:rPr lang="ko-KR" altLang="en-US" sz="2000" dirty="0"/>
              <a:t>하는 동적검증 과정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>
                <a:latin typeface="+mn-ea"/>
              </a:rPr>
              <a:t>✓ </a:t>
            </a:r>
            <a:r>
              <a:rPr lang="ko-KR" altLang="en-US" sz="2000" dirty="0"/>
              <a:t>오픈소스 정적 검사 도구를 활용해 </a:t>
            </a:r>
            <a:r>
              <a:rPr lang="ko-KR" altLang="ko-KR" sz="2000" b="1" dirty="0"/>
              <a:t>클라우드 리소스 구성 및 애플리케이션 실행 가능 여부를 검증</a:t>
            </a:r>
            <a:endParaRPr lang="en-US" altLang="ko-KR" sz="2000" b="1" dirty="0"/>
          </a:p>
          <a:p>
            <a:endParaRPr lang="en-US" altLang="ko-KR" sz="2000" dirty="0"/>
          </a:p>
          <a:p>
            <a:r>
              <a:rPr lang="ko-KR" altLang="en-US" sz="2000" dirty="0">
                <a:latin typeface="+mn-ea"/>
              </a:rPr>
              <a:t>✓ </a:t>
            </a:r>
            <a:r>
              <a:rPr lang="ko-KR" altLang="ko-KR" sz="2000" dirty="0"/>
              <a:t>검증 과정에서 발견된 오류와 </a:t>
            </a:r>
            <a:r>
              <a:rPr lang="ko-KR" altLang="ko-KR" sz="2000" dirty="0" err="1"/>
              <a:t>미충족</a:t>
            </a:r>
            <a:r>
              <a:rPr lang="ko-KR" altLang="ko-KR" sz="2000" dirty="0"/>
              <a:t> 항목은 산출물 추적 정보</a:t>
            </a:r>
            <a:r>
              <a:rPr lang="ko-KR" altLang="en-US" sz="2000" dirty="0"/>
              <a:t>와 함께  </a:t>
            </a:r>
            <a:r>
              <a:rPr lang="ko-KR" altLang="ko-KR" sz="2000" dirty="0"/>
              <a:t>재생성 또는 재검증에 활용</a:t>
            </a: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787EC52-C824-BEFE-DE98-979D5EFC1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238500"/>
            <a:ext cx="3638550" cy="619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74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CD137-8B9A-6FEA-0245-DBE636B2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B387B8-5A85-6288-9E9F-1322408C26F8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100E96-B5CB-0FC2-AADC-55D1AEFAEB9B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1F43166-A61A-97A5-DCFF-6423BAA298F3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5F3D008-3155-D061-5B6E-D53901534474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E0CB1C0-CE00-5D73-9568-F8C6EAF6A09E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3CE1342-0E24-DCF4-C210-E4D83F16D44E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1E0BA1D6-A31C-1888-5507-B9AAF0F35AFD}"/>
              </a:ext>
            </a:extLst>
          </p:cNvPr>
          <p:cNvSpPr txBox="1"/>
          <p:nvPr/>
        </p:nvSpPr>
        <p:spPr>
          <a:xfrm>
            <a:off x="3200400" y="1824844"/>
            <a:ext cx="11887200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사례 연구</a:t>
            </a:r>
            <a:r>
              <a:rPr lang="en-US" altLang="ko-KR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</a:t>
            </a: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수강신청 애플리케이션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86237EB6-9588-1703-29D2-8C38A67218DC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095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FAA85A-085D-1920-3313-4B5C521D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8C5280-0B93-1A06-982A-1A93F42BBEE0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B1DFD8-2B02-1615-DFC4-03E8E8428F65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BB04B0D-FB6A-EE6B-E872-AB76AD82E5A5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DC4D624-0C0A-E571-2DC9-B5B7286B0ABF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47F0C01-F791-E649-8337-A44F9E340C82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4B3A497-82E4-7A41-49F3-CEF87BBBBED4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AE137A9D-AA79-1473-4C63-6E8BA216E0B7}"/>
              </a:ext>
            </a:extLst>
          </p:cNvPr>
          <p:cNvSpPr txBox="1"/>
          <p:nvPr/>
        </p:nvSpPr>
        <p:spPr>
          <a:xfrm>
            <a:off x="3200400" y="1824844"/>
            <a:ext cx="11887200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비교 평가</a:t>
            </a:r>
            <a:r>
              <a:rPr lang="en-US" altLang="ko-KR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: </a:t>
            </a:r>
            <a:r>
              <a:rPr lang="en-US" altLang="ko-KR" sz="7099" b="1" spc="-496" dirty="0" err="1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MetaGPT</a:t>
            </a:r>
            <a:r>
              <a:rPr lang="en-US" altLang="ko-KR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, </a:t>
            </a:r>
            <a:r>
              <a:rPr lang="en-US" altLang="ko-KR" sz="7099" b="1" spc="-496" dirty="0" err="1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ChatDev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A85E4689-C11F-2E69-7F68-F07FA3AE3FEA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BDAEC135-75C9-8A2B-C300-079C5FD2C8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0653271"/>
              </p:ext>
            </p:extLst>
          </p:nvPr>
        </p:nvGraphicFramePr>
        <p:xfrm>
          <a:off x="1905001" y="3424811"/>
          <a:ext cx="7355967" cy="4690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44A087D-A2E2-B711-2180-3C59DB8FBF0D}"/>
              </a:ext>
            </a:extLst>
          </p:cNvPr>
          <p:cNvSpPr txBox="1"/>
          <p:nvPr/>
        </p:nvSpPr>
        <p:spPr>
          <a:xfrm flipH="1">
            <a:off x="9906000" y="3543300"/>
            <a:ext cx="6942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OpenTofu</a:t>
            </a:r>
            <a:r>
              <a:rPr lang="en-US" altLang="ko-KR" sz="2400" dirty="0"/>
              <a:t>(</a:t>
            </a:r>
            <a:r>
              <a:rPr lang="ko-KR" altLang="en-US" sz="2400" dirty="0"/>
              <a:t>오픈소스 </a:t>
            </a:r>
            <a:r>
              <a:rPr lang="en-US" altLang="ko-KR" sz="2400" dirty="0" err="1"/>
              <a:t>IaC</a:t>
            </a:r>
            <a:r>
              <a:rPr lang="en-US" altLang="ko-KR" sz="2400" dirty="0"/>
              <a:t> </a:t>
            </a:r>
            <a:r>
              <a:rPr lang="ko-KR" altLang="en-US" sz="2400" dirty="0"/>
              <a:t>도구</a:t>
            </a:r>
            <a:r>
              <a:rPr lang="en-US" altLang="ko-KR" sz="2400" dirty="0"/>
              <a:t>) </a:t>
            </a:r>
            <a:r>
              <a:rPr lang="ko-KR" altLang="en-US" sz="2400" dirty="0"/>
              <a:t>기반 정적 검사 결과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A1153-5FEF-0FF4-18CD-017B04DF0C2D}"/>
              </a:ext>
            </a:extLst>
          </p:cNvPr>
          <p:cNvSpPr txBox="1"/>
          <p:nvPr/>
        </p:nvSpPr>
        <p:spPr>
          <a:xfrm>
            <a:off x="2679225" y="8877300"/>
            <a:ext cx="1316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비교군 모두에 대해 같은 클라우드 요구사항을 제공하였을 때</a:t>
            </a:r>
            <a:r>
              <a:rPr lang="en-US" altLang="ko-KR" dirty="0"/>
              <a:t>,</a:t>
            </a:r>
            <a:r>
              <a:rPr lang="ko-KR" altLang="en-US" dirty="0"/>
              <a:t> 클라우드 요구사항 충족 결과 및 인프라 구성에 대한 결과 확인 결과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4976E07-D776-925E-9064-4C09AFF0C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640397"/>
              </p:ext>
            </p:extLst>
          </p:nvPr>
        </p:nvGraphicFramePr>
        <p:xfrm>
          <a:off x="9982200" y="4610100"/>
          <a:ext cx="6793286" cy="189207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697940">
                  <a:extLst>
                    <a:ext uri="{9D8B030D-6E8A-4147-A177-3AD203B41FA5}">
                      <a16:colId xmlns:a16="http://schemas.microsoft.com/office/drawing/2014/main" val="3308754638"/>
                    </a:ext>
                  </a:extLst>
                </a:gridCol>
                <a:gridCol w="1698703">
                  <a:extLst>
                    <a:ext uri="{9D8B030D-6E8A-4147-A177-3AD203B41FA5}">
                      <a16:colId xmlns:a16="http://schemas.microsoft.com/office/drawing/2014/main" val="470568442"/>
                    </a:ext>
                  </a:extLst>
                </a:gridCol>
                <a:gridCol w="1697940">
                  <a:extLst>
                    <a:ext uri="{9D8B030D-6E8A-4147-A177-3AD203B41FA5}">
                      <a16:colId xmlns:a16="http://schemas.microsoft.com/office/drawing/2014/main" val="263039461"/>
                    </a:ext>
                  </a:extLst>
                </a:gridCol>
                <a:gridCol w="1698703">
                  <a:extLst>
                    <a:ext uri="{9D8B030D-6E8A-4147-A177-3AD203B41FA5}">
                      <a16:colId xmlns:a16="http://schemas.microsoft.com/office/drawing/2014/main" val="1136902677"/>
                    </a:ext>
                  </a:extLst>
                </a:gridCol>
              </a:tblGrid>
              <a:tr h="5272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300" kern="100" dirty="0">
                          <a:effectLst/>
                        </a:rPr>
                        <a:t>비교군</a:t>
                      </a:r>
                      <a:endParaRPr lang="ko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99308" marR="99308" marT="73562" marB="735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300" kern="100" dirty="0">
                          <a:effectLst/>
                        </a:rPr>
                        <a:t>제안하는 시스템</a:t>
                      </a:r>
                      <a:endParaRPr lang="ko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99308" marR="99308" marT="73562" marB="735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ChatDev</a:t>
                      </a:r>
                      <a:endParaRPr lang="ko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99308" marR="99308" marT="64366" marB="643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MetaGPT</a:t>
                      </a:r>
                      <a:endParaRPr lang="ko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99308" marR="99308" marT="73562" marB="735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289600"/>
                  </a:ext>
                </a:extLst>
              </a:tr>
              <a:tr h="13648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300" kern="100" dirty="0">
                          <a:effectLst/>
                        </a:rPr>
                        <a:t>검증 결과</a:t>
                      </a:r>
                      <a:endParaRPr lang="ko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99308" marR="993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300" kern="100" dirty="0">
                          <a:effectLst/>
                        </a:rPr>
                        <a:t>통과 </a:t>
                      </a:r>
                      <a:r>
                        <a:rPr lang="en-US" sz="1300" kern="100" dirty="0">
                          <a:effectLst/>
                        </a:rPr>
                        <a:t>(</a:t>
                      </a:r>
                      <a:r>
                        <a:rPr lang="ko-KR" sz="1300" kern="100" dirty="0">
                          <a:effectLst/>
                        </a:rPr>
                        <a:t>종료 코드 </a:t>
                      </a:r>
                      <a:r>
                        <a:rPr lang="en-US" sz="1300" kern="100" dirty="0">
                          <a:effectLst/>
                        </a:rPr>
                        <a:t>0)</a:t>
                      </a:r>
                      <a:endParaRPr lang="ko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99308" marR="993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 err="1">
                          <a:effectLst/>
                        </a:rPr>
                        <a:t>tf</a:t>
                      </a:r>
                      <a:r>
                        <a:rPr lang="en-US" sz="1300" kern="100" dirty="0">
                          <a:effectLst/>
                        </a:rPr>
                        <a:t> </a:t>
                      </a:r>
                      <a:r>
                        <a:rPr lang="ko-KR" sz="1300" kern="100" dirty="0">
                          <a:effectLst/>
                        </a:rPr>
                        <a:t>구성 에러</a:t>
                      </a:r>
                      <a:endParaRPr lang="ko-KR" sz="1600" kern="1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(</a:t>
                      </a:r>
                      <a:r>
                        <a:rPr lang="ko-KR" sz="1300" kern="100" dirty="0">
                          <a:effectLst/>
                        </a:rPr>
                        <a:t>선언되지 않은 변수 참조</a:t>
                      </a:r>
                      <a:r>
                        <a:rPr lang="en-US" sz="1300" kern="100" dirty="0">
                          <a:effectLst/>
                        </a:rPr>
                        <a:t>)</a:t>
                      </a:r>
                      <a:endParaRPr lang="ko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99308" marR="99308" marT="64366" marB="643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100" dirty="0">
                          <a:effectLst/>
                        </a:rPr>
                        <a:t>EBS </a:t>
                      </a:r>
                      <a:r>
                        <a:rPr lang="ko-KR" sz="1300" kern="100" dirty="0">
                          <a:effectLst/>
                        </a:rPr>
                        <a:t>볼륨</a:t>
                      </a:r>
                      <a:r>
                        <a:rPr lang="en-US" sz="1300" kern="100" dirty="0">
                          <a:effectLst/>
                        </a:rPr>
                        <a:t>-</a:t>
                      </a:r>
                      <a:r>
                        <a:rPr lang="ko-KR" sz="1300" kern="100" dirty="0">
                          <a:effectLst/>
                        </a:rPr>
                        <a:t>연결</a:t>
                      </a:r>
                      <a:r>
                        <a:rPr lang="en-US" sz="1300" kern="100" dirty="0">
                          <a:effectLst/>
                        </a:rPr>
                        <a:t>-</a:t>
                      </a:r>
                      <a:r>
                        <a:rPr lang="ko-KR" sz="1300" kern="100" dirty="0">
                          <a:effectLst/>
                        </a:rPr>
                        <a:t>인스턴스 순환 의존성</a:t>
                      </a:r>
                      <a:endParaRPr lang="ko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99308" marR="993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20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75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A1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0E0BF-FCD3-97E5-6578-E03EDE9E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867598-91E4-58A7-A43E-E50AE6B7F981}"/>
              </a:ext>
            </a:extLst>
          </p:cNvPr>
          <p:cNvGrpSpPr/>
          <p:nvPr/>
        </p:nvGrpSpPr>
        <p:grpSpPr>
          <a:xfrm>
            <a:off x="590550" y="585788"/>
            <a:ext cx="17106900" cy="9115425"/>
            <a:chOff x="0" y="0"/>
            <a:chExt cx="4505521" cy="240077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433AAA6-F148-7149-8AC2-071AF778B4F9}"/>
                </a:ext>
              </a:extLst>
            </p:cNvPr>
            <p:cNvSpPr/>
            <p:nvPr/>
          </p:nvSpPr>
          <p:spPr>
            <a:xfrm>
              <a:off x="0" y="0"/>
              <a:ext cx="4505521" cy="2400770"/>
            </a:xfrm>
            <a:custGeom>
              <a:avLst/>
              <a:gdLst/>
              <a:ahLst/>
              <a:cxnLst/>
              <a:rect l="l" t="t" r="r" b="b"/>
              <a:pathLst>
                <a:path w="4505521" h="2400770">
                  <a:moveTo>
                    <a:pt x="0" y="0"/>
                  </a:moveTo>
                  <a:lnTo>
                    <a:pt x="4505521" y="0"/>
                  </a:lnTo>
                  <a:lnTo>
                    <a:pt x="4505521" y="2400770"/>
                  </a:lnTo>
                  <a:lnTo>
                    <a:pt x="0" y="2400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5634A59-35E1-90D1-A2D3-A2955CC5569D}"/>
                </a:ext>
              </a:extLst>
            </p:cNvPr>
            <p:cNvSpPr txBox="1"/>
            <p:nvPr/>
          </p:nvSpPr>
          <p:spPr>
            <a:xfrm>
              <a:off x="0" y="-47625"/>
              <a:ext cx="4505521" cy="2448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978739C-C64D-0E13-CC97-4449A0760BBB}"/>
              </a:ext>
            </a:extLst>
          </p:cNvPr>
          <p:cNvGrpSpPr/>
          <p:nvPr/>
        </p:nvGrpSpPr>
        <p:grpSpPr>
          <a:xfrm>
            <a:off x="5974829" y="521842"/>
            <a:ext cx="6338342" cy="765168"/>
            <a:chOff x="0" y="0"/>
            <a:chExt cx="2179506" cy="26311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900B3AC-ED23-9EA4-C952-3722495900E9}"/>
                </a:ext>
              </a:extLst>
            </p:cNvPr>
            <p:cNvSpPr/>
            <p:nvPr/>
          </p:nvSpPr>
          <p:spPr>
            <a:xfrm>
              <a:off x="0" y="0"/>
              <a:ext cx="2179506" cy="263111"/>
            </a:xfrm>
            <a:custGeom>
              <a:avLst/>
              <a:gdLst/>
              <a:ahLst/>
              <a:cxnLst/>
              <a:rect l="l" t="t" r="r" b="b"/>
              <a:pathLst>
                <a:path w="2179506" h="263111">
                  <a:moveTo>
                    <a:pt x="203200" y="263111"/>
                  </a:moveTo>
                  <a:lnTo>
                    <a:pt x="1976306" y="263111"/>
                  </a:lnTo>
                  <a:lnTo>
                    <a:pt x="2179506" y="0"/>
                  </a:lnTo>
                  <a:lnTo>
                    <a:pt x="0" y="0"/>
                  </a:lnTo>
                  <a:lnTo>
                    <a:pt x="203200" y="263111"/>
                  </a:lnTo>
                  <a:close/>
                </a:path>
              </a:pathLst>
            </a:custGeom>
            <a:solidFill>
              <a:srgbClr val="5BA1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34655B7-B5F2-6353-EDE6-EA194B91BE6F}"/>
                </a:ext>
              </a:extLst>
            </p:cNvPr>
            <p:cNvSpPr txBox="1"/>
            <p:nvPr/>
          </p:nvSpPr>
          <p:spPr>
            <a:xfrm>
              <a:off x="127000" y="-38100"/>
              <a:ext cx="1925506" cy="301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14">
            <a:extLst>
              <a:ext uri="{FF2B5EF4-FFF2-40B4-BE49-F238E27FC236}">
                <a16:creationId xmlns:a16="http://schemas.microsoft.com/office/drawing/2014/main" id="{18455498-E925-3E36-AF68-7CFB3F8B9668}"/>
              </a:ext>
            </a:extLst>
          </p:cNvPr>
          <p:cNvSpPr txBox="1"/>
          <p:nvPr/>
        </p:nvSpPr>
        <p:spPr>
          <a:xfrm>
            <a:off x="3200400" y="1824844"/>
            <a:ext cx="11887200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9"/>
              </a:lnSpc>
            </a:pPr>
            <a:r>
              <a:rPr lang="ko-KR" altLang="en-US" sz="7099" b="1" spc="-496" dirty="0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결론</a:t>
            </a:r>
            <a:endParaRPr lang="en-US" sz="7099" b="1" spc="-496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7F051457-0274-E6F3-0489-13A8C5FAC5F0}"/>
              </a:ext>
            </a:extLst>
          </p:cNvPr>
          <p:cNvSpPr/>
          <p:nvPr/>
        </p:nvSpPr>
        <p:spPr>
          <a:xfrm>
            <a:off x="1676400" y="3086100"/>
            <a:ext cx="15144686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C04191-B262-68DE-3BA6-5EACC938DADD}"/>
              </a:ext>
            </a:extLst>
          </p:cNvPr>
          <p:cNvSpPr txBox="1"/>
          <p:nvPr/>
        </p:nvSpPr>
        <p:spPr>
          <a:xfrm>
            <a:off x="1828800" y="3314700"/>
            <a:ext cx="14706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n-ea"/>
              </a:rPr>
              <a:t> ◉ </a:t>
            </a:r>
            <a:r>
              <a:rPr lang="ko-KR" altLang="en-US" sz="2400" b="1" dirty="0">
                <a:latin typeface="+mn-ea"/>
              </a:rPr>
              <a:t>클라우드 네이티브 애플리케이션 개발을 지원 </a:t>
            </a:r>
            <a:r>
              <a:rPr lang="ko-KR" altLang="en-US" sz="2400" dirty="0">
                <a:latin typeface="+mn-ea"/>
              </a:rPr>
              <a:t>방법 제시</a:t>
            </a:r>
            <a:endParaRPr lang="en-US" altLang="ko-KR" sz="2400" dirty="0">
              <a:latin typeface="+mn-ea"/>
            </a:endParaRPr>
          </a:p>
          <a:p>
            <a:r>
              <a:rPr lang="en-US" altLang="ko-KR" sz="2400" dirty="0">
                <a:latin typeface="+mn-ea"/>
              </a:rPr>
              <a:t>	- </a:t>
            </a:r>
            <a:r>
              <a:rPr lang="ko-KR" altLang="en-US" sz="2400" dirty="0">
                <a:latin typeface="+mn-ea"/>
              </a:rPr>
              <a:t>요구사항 </a:t>
            </a:r>
            <a:r>
              <a:rPr lang="ko-KR" altLang="en-US" sz="2400" b="1" dirty="0">
                <a:latin typeface="+mn-ea"/>
              </a:rPr>
              <a:t>분석</a:t>
            </a:r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	- </a:t>
            </a:r>
            <a:r>
              <a:rPr lang="ko-KR" altLang="en-US" sz="2400" dirty="0">
                <a:latin typeface="+mn-ea"/>
              </a:rPr>
              <a:t>애플리케이션 </a:t>
            </a:r>
            <a:r>
              <a:rPr lang="ko-KR" altLang="en-US" sz="2400" b="1" dirty="0">
                <a:latin typeface="+mn-ea"/>
              </a:rPr>
              <a:t>설계</a:t>
            </a:r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	- </a:t>
            </a:r>
            <a:r>
              <a:rPr lang="ko-KR" altLang="en-US" sz="2400" dirty="0">
                <a:latin typeface="+mn-ea"/>
              </a:rPr>
              <a:t>클라우드 리소스 기반 </a:t>
            </a:r>
            <a:r>
              <a:rPr lang="ko-KR" altLang="en-US" sz="2400" b="1" dirty="0">
                <a:latin typeface="+mn-ea"/>
              </a:rPr>
              <a:t>구현</a:t>
            </a:r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	- </a:t>
            </a:r>
            <a:r>
              <a:rPr lang="ko-KR" altLang="en-US" sz="2400" dirty="0">
                <a:latin typeface="+mn-ea"/>
              </a:rPr>
              <a:t>산출물 </a:t>
            </a:r>
            <a:r>
              <a:rPr lang="ko-KR" altLang="en-US" sz="2400" b="1" dirty="0">
                <a:latin typeface="+mn-ea"/>
              </a:rPr>
              <a:t>테스팅</a:t>
            </a:r>
            <a:endParaRPr lang="en-US" altLang="ko-KR" sz="2400" b="1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◉ 클라우드 네이티브 </a:t>
            </a:r>
            <a:r>
              <a:rPr lang="ko-KR" altLang="en-US" sz="2400" b="1" dirty="0">
                <a:latin typeface="+mn-ea"/>
              </a:rPr>
              <a:t>수강신청 애플리케이션 개발</a:t>
            </a:r>
            <a:r>
              <a:rPr lang="ko-KR" altLang="ko-KR" sz="2400" b="1" dirty="0">
                <a:latin typeface="+mn-ea"/>
              </a:rPr>
              <a:t> 사례 </a:t>
            </a:r>
            <a:r>
              <a:rPr lang="ko-KR" altLang="ko-KR" sz="2400" dirty="0">
                <a:latin typeface="+mn-ea"/>
              </a:rPr>
              <a:t>적용</a:t>
            </a:r>
            <a:endParaRPr lang="en-US" altLang="ko-KR" sz="2400" dirty="0">
              <a:latin typeface="+mn-ea"/>
            </a:endParaRPr>
          </a:p>
          <a:p>
            <a:r>
              <a:rPr lang="en-US" altLang="ko-KR" sz="2400" dirty="0">
                <a:latin typeface="+mn-ea"/>
              </a:rPr>
              <a:t>	- 8</a:t>
            </a:r>
            <a:r>
              <a:rPr lang="ko-KR" altLang="en-US" sz="2400" dirty="0">
                <a:latin typeface="+mn-ea"/>
              </a:rPr>
              <a:t>가지 클라우드 제약사항을 만족하는 애플리케이션 개발 수행</a:t>
            </a:r>
            <a:endParaRPr lang="en-US" altLang="ko-KR" sz="2400" dirty="0">
              <a:latin typeface="+mn-ea"/>
            </a:endParaRPr>
          </a:p>
          <a:p>
            <a:r>
              <a:rPr lang="en-US" altLang="ko-KR" sz="2400" dirty="0">
                <a:latin typeface="+mn-ea"/>
              </a:rPr>
              <a:t>	- </a:t>
            </a:r>
            <a:r>
              <a:rPr lang="ko-KR" altLang="en-US" sz="2400" dirty="0">
                <a:latin typeface="+mn-ea"/>
              </a:rPr>
              <a:t>클라우드 리소스 및 배포파일 검증 수행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◉ 서비스 개발 지원 기술인 </a:t>
            </a:r>
            <a:r>
              <a:rPr lang="en-US" altLang="ko-KR" sz="2400" dirty="0" err="1">
                <a:latin typeface="+mn-ea"/>
              </a:rPr>
              <a:t>ChatDev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MetaGPT</a:t>
            </a:r>
            <a:r>
              <a:rPr lang="ko-KR" altLang="en-US" sz="2400" dirty="0">
                <a:latin typeface="+mn-ea"/>
              </a:rPr>
              <a:t>와 비교 평가</a:t>
            </a:r>
            <a:endParaRPr lang="en-US" altLang="ko-KR" sz="2400" dirty="0">
              <a:latin typeface="+mn-ea"/>
            </a:endParaRPr>
          </a:p>
          <a:p>
            <a:r>
              <a:rPr lang="en-US" altLang="ko-KR" sz="2400" dirty="0">
                <a:latin typeface="+mn-ea"/>
              </a:rPr>
              <a:t>	- </a:t>
            </a:r>
            <a:r>
              <a:rPr lang="ko-KR" altLang="en-US" sz="2400" dirty="0">
                <a:latin typeface="+mn-ea"/>
              </a:rPr>
              <a:t>제안하는 시스템은 클라우드 제약사항 중 </a:t>
            </a:r>
            <a:r>
              <a:rPr lang="en-US" altLang="ko-KR" sz="2400" dirty="0">
                <a:latin typeface="+mn-ea"/>
              </a:rPr>
              <a:t>7</a:t>
            </a:r>
            <a:r>
              <a:rPr lang="ko-KR" altLang="en-US" sz="2400" dirty="0">
                <a:latin typeface="+mn-ea"/>
              </a:rPr>
              <a:t>개를 충족함 반면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ChatDev</a:t>
            </a:r>
            <a:r>
              <a:rPr lang="en-US" altLang="ko-KR" sz="2400" dirty="0">
                <a:latin typeface="+mn-ea"/>
              </a:rPr>
              <a:t> 6</a:t>
            </a:r>
            <a:r>
              <a:rPr lang="ko-KR" altLang="en-US" sz="2400" dirty="0">
                <a:latin typeface="+mn-ea"/>
              </a:rPr>
              <a:t>개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MetaGPT</a:t>
            </a:r>
            <a:r>
              <a:rPr lang="ko-KR" altLang="en-US" sz="2400" dirty="0">
                <a:latin typeface="+mn-ea"/>
              </a:rPr>
              <a:t>는 </a:t>
            </a:r>
            <a:r>
              <a:rPr lang="en-US" altLang="ko-KR" sz="2400" dirty="0">
                <a:latin typeface="+mn-ea"/>
              </a:rPr>
              <a:t>5</a:t>
            </a:r>
            <a:r>
              <a:rPr lang="ko-KR" altLang="en-US" sz="2400" dirty="0">
                <a:latin typeface="+mn-ea"/>
              </a:rPr>
              <a:t>개를 </a:t>
            </a:r>
            <a:r>
              <a:rPr lang="en-US" altLang="ko-KR" sz="2400" dirty="0">
                <a:latin typeface="+mn-ea"/>
              </a:rPr>
              <a:t>		</a:t>
            </a:r>
            <a:r>
              <a:rPr lang="ko-KR" altLang="en-US" sz="2400" dirty="0">
                <a:latin typeface="+mn-ea"/>
              </a:rPr>
              <a:t>만족하여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제안하는 </a:t>
            </a:r>
            <a:r>
              <a:rPr lang="en-US" altLang="ko-KR" sz="2400" dirty="0">
                <a:latin typeface="+mn-ea"/>
              </a:rPr>
              <a:t>	</a:t>
            </a:r>
            <a:r>
              <a:rPr lang="ko-KR" altLang="en-US" sz="2400" dirty="0">
                <a:latin typeface="+mn-ea"/>
              </a:rPr>
              <a:t>방법이 </a:t>
            </a:r>
            <a:r>
              <a:rPr lang="ko-KR" altLang="en-US" sz="2400" b="1" dirty="0">
                <a:latin typeface="+mn-ea"/>
              </a:rPr>
              <a:t>클라우드 제약사항 반영 측면에서 우수한 성능을 보임</a:t>
            </a:r>
            <a:r>
              <a:rPr lang="ko-KR" altLang="en-US" sz="2400" dirty="0">
                <a:latin typeface="+mn-ea"/>
              </a:rPr>
              <a:t>을 확인하였음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◉ 멀티 클라우드 환경을 활용한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다양한 </a:t>
            </a:r>
            <a:r>
              <a:rPr lang="en-US" altLang="ko-KR" sz="2400" dirty="0">
                <a:latin typeface="+mn-ea"/>
              </a:rPr>
              <a:t>AI </a:t>
            </a:r>
            <a:r>
              <a:rPr lang="ko-KR" altLang="en-US" sz="2400" dirty="0">
                <a:latin typeface="+mn-ea"/>
              </a:rPr>
              <a:t>에이전트의 개발 지원 도구로 활용될 수 있을 것으로 기대됨 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32570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9666" y="585592"/>
            <a:ext cx="17106900" cy="9115425"/>
            <a:chOff x="0" y="0"/>
            <a:chExt cx="4505987" cy="2401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5987" cy="2401018"/>
            </a:xfrm>
            <a:custGeom>
              <a:avLst/>
              <a:gdLst/>
              <a:ahLst/>
              <a:cxnLst/>
              <a:rect l="l" t="t" r="r" b="b"/>
              <a:pathLst>
                <a:path w="4505987" h="2401018">
                  <a:moveTo>
                    <a:pt x="0" y="0"/>
                  </a:moveTo>
                  <a:lnTo>
                    <a:pt x="4505987" y="0"/>
                  </a:lnTo>
                  <a:lnTo>
                    <a:pt x="4505987" y="2401018"/>
                  </a:lnTo>
                  <a:lnTo>
                    <a:pt x="0" y="24010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05987" cy="244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111823" y="5409039"/>
            <a:ext cx="8064355" cy="0"/>
          </a:xfrm>
          <a:prstGeom prst="line">
            <a:avLst/>
          </a:prstGeom>
          <a:ln w="28575" cap="flat">
            <a:solidFill>
              <a:srgbClr val="242424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16207562" y="8157805"/>
            <a:ext cx="1618674" cy="1598073"/>
          </a:xfrm>
          <a:custGeom>
            <a:avLst/>
            <a:gdLst/>
            <a:ahLst/>
            <a:cxnLst/>
            <a:rect l="l" t="t" r="r" b="b"/>
            <a:pathLst>
              <a:path w="1618674" h="1598073">
                <a:moveTo>
                  <a:pt x="0" y="0"/>
                </a:moveTo>
                <a:lnTo>
                  <a:pt x="1618675" y="0"/>
                </a:lnTo>
                <a:lnTo>
                  <a:pt x="1618675" y="1598073"/>
                </a:lnTo>
                <a:lnTo>
                  <a:pt x="0" y="1598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 flipH="1">
            <a:off x="461763" y="8157805"/>
            <a:ext cx="1618674" cy="1598073"/>
          </a:xfrm>
          <a:custGeom>
            <a:avLst/>
            <a:gdLst/>
            <a:ahLst/>
            <a:cxnLst/>
            <a:rect l="l" t="t" r="r" b="b"/>
            <a:pathLst>
              <a:path w="1618674" h="1598073">
                <a:moveTo>
                  <a:pt x="1618675" y="0"/>
                </a:moveTo>
                <a:lnTo>
                  <a:pt x="0" y="0"/>
                </a:lnTo>
                <a:lnTo>
                  <a:pt x="0" y="1598073"/>
                </a:lnTo>
                <a:lnTo>
                  <a:pt x="1618675" y="1598073"/>
                </a:lnTo>
                <a:lnTo>
                  <a:pt x="161867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4690948" y="3477051"/>
            <a:ext cx="8906105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 spc="-499" dirty="0" err="1">
                <a:solidFill>
                  <a:srgbClr val="004AA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감사합니다</a:t>
            </a:r>
            <a:endParaRPr lang="en-US" sz="9999" b="1" spc="-499" dirty="0">
              <a:solidFill>
                <a:srgbClr val="004AAD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690948" y="5711825"/>
            <a:ext cx="890610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49">
                <a:solidFill>
                  <a:srgbClr val="242424">
                    <a:alpha val="6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854</Words>
  <Application>Microsoft Office PowerPoint</Application>
  <PresentationFormat>사용자 지정</PresentationFormat>
  <Paragraphs>135</Paragraphs>
  <Slides>15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Source Han Sans KR</vt:lpstr>
      <vt:lpstr>Calibri</vt:lpstr>
      <vt:lpstr>Source Han Sans KR Bold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하늘색 남색 심플한 회사 소개 프레젠테이션</dc:title>
  <cp:lastModifiedBy>이상현</cp:lastModifiedBy>
  <cp:revision>24</cp:revision>
  <cp:lastPrinted>2026-09-09T05:34:31Z</cp:lastPrinted>
  <dcterms:created xsi:type="dcterms:W3CDTF">2006-08-16T00:00:00Z</dcterms:created>
  <dcterms:modified xsi:type="dcterms:W3CDTF">2026-09-29T06:00:02Z</dcterms:modified>
  <dc:identifier>DAHUoIlgZ3g</dc:identifier>
</cp:coreProperties>
</file>